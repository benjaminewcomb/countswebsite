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56d30b0d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56d30b0d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c56d30b0d6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358140" lvl="0" marL="342900" rtl="0" algn="l">
              <a:spcBef>
                <a:spcPts val="592"/>
              </a:spcBef>
              <a:spcAft>
                <a:spcPts val="0"/>
              </a:spcAft>
              <a:buClr>
                <a:schemeClr val="dk1"/>
              </a:buClr>
              <a:buSzPts val="3200"/>
              <a:buChar char="•"/>
            </a:pPr>
            <a:r>
              <a:rPr lang="en-US"/>
              <a:t>There has been a lot of concern about “toilet-to-tap”. </a:t>
            </a:r>
            <a:r>
              <a:rPr lang="en-US"/>
              <a:t>I would </a:t>
            </a:r>
            <a:r>
              <a:rPr lang="en-US"/>
              <a:t>just like to explain what the process actually involves and why it is being considered. It is </a:t>
            </a:r>
            <a:r>
              <a:rPr lang="en-US"/>
              <a:t>the optics of this that are going to be so determinate of people’s vote. People hear the phrase “toilet-to-tap” &amp; it just sounds intrinsically bad to anyone - of course we do not want toilet to tap.</a:t>
            </a:r>
            <a:endParaRPr/>
          </a:p>
        </p:txBody>
      </p:sp>
      <p:sp>
        <p:nvSpPr>
          <p:cNvPr id="89" name="Google Shape;8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To start off</a:t>
            </a:r>
            <a:endParaRPr/>
          </a:p>
        </p:txBody>
      </p:sp>
      <p:sp>
        <p:nvSpPr>
          <p:cNvPr id="95" name="Google Shape;95;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Potable water = drinking water</a:t>
            </a:r>
            <a:endParaRPr/>
          </a:p>
        </p:txBody>
      </p:sp>
      <p:sp>
        <p:nvSpPr>
          <p:cNvPr id="96" name="Google Shape;9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Wastewater Definitions</a:t>
            </a:r>
            <a:endParaRPr/>
          </a:p>
        </p:txBody>
      </p:sp>
      <p:sp>
        <p:nvSpPr>
          <p:cNvPr id="102" name="Google Shape;102;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Typical domestic wastewater sewer systems do not differentiate between types of domestic wastewater which is a mix of gray water and blackwater</a:t>
            </a:r>
            <a:endParaRPr/>
          </a:p>
          <a:p>
            <a:pPr indent="-342900" lvl="0" marL="342900" rtl="0" algn="l">
              <a:spcBef>
                <a:spcPts val="640"/>
              </a:spcBef>
              <a:spcAft>
                <a:spcPts val="0"/>
              </a:spcAft>
              <a:buClr>
                <a:schemeClr val="dk1"/>
              </a:buClr>
              <a:buSzPts val="3200"/>
              <a:buChar char="•"/>
            </a:pPr>
            <a:r>
              <a:rPr lang="en-US"/>
              <a:t>Graywater is water from bath, laundry, and sinks other than kitchen</a:t>
            </a:r>
            <a:endParaRPr/>
          </a:p>
          <a:p>
            <a:pPr indent="-342900" lvl="0" marL="342900" rtl="0" algn="l">
              <a:spcBef>
                <a:spcPts val="640"/>
              </a:spcBef>
              <a:spcAft>
                <a:spcPts val="0"/>
              </a:spcAft>
              <a:buClr>
                <a:schemeClr val="dk1"/>
              </a:buClr>
              <a:buSzPts val="3200"/>
              <a:buChar char="•"/>
            </a:pPr>
            <a:r>
              <a:rPr lang="en-US"/>
              <a:t>Blackwater is domestic sewage and kitchen drains</a:t>
            </a:r>
            <a:endParaRPr/>
          </a:p>
        </p:txBody>
      </p:sp>
      <p:sp>
        <p:nvSpPr>
          <p:cNvPr id="103" name="Google Shape;10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idx="1" type="body"/>
          </p:nvPr>
        </p:nvSpPr>
        <p:spPr>
          <a:xfrm>
            <a:off x="457200" y="1338263"/>
            <a:ext cx="8229600" cy="4526100"/>
          </a:xfrm>
          <a:prstGeom prst="rect">
            <a:avLst/>
          </a:prstGeom>
          <a:noFill/>
          <a:ln>
            <a:noFill/>
          </a:ln>
        </p:spPr>
        <p:txBody>
          <a:bodyPr anchorCtr="0" anchor="t" bIns="45700" lIns="91425" spcFirstLastPara="1" rIns="91425" wrap="square" tIns="45700">
            <a:normAutofit fontScale="70000" lnSpcReduction="10000"/>
          </a:bodyPr>
          <a:lstStyle/>
          <a:p>
            <a:pPr indent="-358140" lvl="0" marL="342900" rtl="0" algn="l">
              <a:spcBef>
                <a:spcPts val="0"/>
              </a:spcBef>
              <a:spcAft>
                <a:spcPts val="0"/>
              </a:spcAft>
              <a:buClr>
                <a:schemeClr val="dk1"/>
              </a:buClr>
              <a:buSzPct val="100000"/>
              <a:buChar char="•"/>
            </a:pPr>
            <a:r>
              <a:rPr lang="en-US"/>
              <a:t>Again Black water re-use is what is referred to as 'toilet to tap'</a:t>
            </a:r>
            <a:endParaRPr/>
          </a:p>
          <a:p>
            <a:pPr indent="-358140" lvl="0" marL="342900" rtl="0" algn="l">
              <a:spcBef>
                <a:spcPts val="400"/>
              </a:spcBef>
              <a:spcAft>
                <a:spcPts val="0"/>
              </a:spcAft>
              <a:buClr>
                <a:schemeClr val="dk1"/>
              </a:buClr>
              <a:buSzPct val="100000"/>
              <a:buChar char="•"/>
            </a:pPr>
            <a:r>
              <a:rPr lang="en-US"/>
              <a:t>The reason it is being considered is because of low aquifer levels</a:t>
            </a:r>
            <a:endParaRPr/>
          </a:p>
          <a:p>
            <a:pPr indent="-358140" lvl="0" marL="342900" rtl="0" algn="l">
              <a:spcBef>
                <a:spcPts val="400"/>
              </a:spcBef>
              <a:spcAft>
                <a:spcPts val="0"/>
              </a:spcAft>
              <a:buClr>
                <a:schemeClr val="dk1"/>
              </a:buClr>
              <a:buSzPct val="100000"/>
              <a:buChar char="•"/>
            </a:pPr>
            <a:r>
              <a:rPr lang="en-US"/>
              <a:t>Per the US Drought monitor - </a:t>
            </a:r>
            <a:r>
              <a:rPr lang="en-US"/>
              <a:t>the majority of Fl is in an ‘extreme drought’ </a:t>
            </a:r>
            <a:endParaRPr/>
          </a:p>
          <a:p>
            <a:pPr indent="-295910" lvl="0" marL="342900" rtl="0" algn="l">
              <a:spcBef>
                <a:spcPts val="400"/>
              </a:spcBef>
              <a:spcAft>
                <a:spcPts val="0"/>
              </a:spcAft>
              <a:buSzPct val="56250"/>
              <a:buChar char="•"/>
            </a:pPr>
            <a:r>
              <a:rPr lang="en-US"/>
              <a:t>Options to address this problem would be reusing surface water, reusing blackwater,  desalination, or using less water.</a:t>
            </a:r>
            <a:endParaRPr/>
          </a:p>
          <a:p>
            <a:pPr indent="-358140" lvl="0" marL="342900" rtl="0" algn="l">
              <a:spcBef>
                <a:spcPts val="400"/>
              </a:spcBef>
              <a:spcAft>
                <a:spcPts val="0"/>
              </a:spcAft>
              <a:buClr>
                <a:schemeClr val="dk1"/>
              </a:buClr>
              <a:buSzPct val="100000"/>
              <a:buChar char="•"/>
            </a:pPr>
            <a:r>
              <a:rPr lang="en-US"/>
              <a:t>Regarding water use: 60% goes to public use (households &amp; their yards), 18% to agriculture, 8% to commercial/industrial, 6% to domestic self-supply/small public supply systems (wells to residences or </a:t>
            </a:r>
            <a:r>
              <a:rPr lang="en-US"/>
              <a:t>campgrounds etc.)</a:t>
            </a:r>
            <a:r>
              <a:rPr lang="en-US"/>
              <a:t>, 5% to public landscapes and </a:t>
            </a:r>
            <a:r>
              <a:rPr lang="en-US"/>
              <a:t>recreational</a:t>
            </a:r>
            <a:r>
              <a:rPr lang="en-US"/>
              <a:t>, 3% to power generation</a:t>
            </a:r>
            <a:endParaRPr/>
          </a:p>
          <a:p>
            <a:pPr indent="-295910" lvl="0" marL="342900" rtl="0" algn="l">
              <a:spcBef>
                <a:spcPts val="400"/>
              </a:spcBef>
              <a:spcAft>
                <a:spcPts val="0"/>
              </a:spcAft>
              <a:buSzPct val="56250"/>
              <a:buChar char="•"/>
            </a:pPr>
            <a:r>
              <a:rPr lang="en-US"/>
              <a:t>Population increased 38% from 2004 to 2023 in the St John’s Water Management District which includes volusia county</a:t>
            </a:r>
            <a:endParaRPr/>
          </a:p>
        </p:txBody>
      </p:sp>
      <p:sp>
        <p:nvSpPr>
          <p:cNvPr id="109" name="Google Shape;10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 ASR Wells</a:t>
            </a:r>
            <a:endParaRPr/>
          </a:p>
        </p:txBody>
      </p:sp>
      <p:sp>
        <p:nvSpPr>
          <p:cNvPr id="115" name="Google Shape;115;p17"/>
          <p:cNvSpPr txBox="1"/>
          <p:nvPr>
            <p:ph idx="1" type="body"/>
          </p:nvPr>
        </p:nvSpPr>
        <p:spPr>
          <a:xfrm>
            <a:off x="1194424" y="1531797"/>
            <a:ext cx="8229600" cy="45261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ASR stands for Aquifer </a:t>
            </a:r>
            <a:r>
              <a:rPr lang="en-US"/>
              <a:t>Storage</a:t>
            </a:r>
            <a:r>
              <a:rPr lang="en-US"/>
              <a:t> and Recovery</a:t>
            </a:r>
            <a:endParaRPr/>
          </a:p>
          <a:p>
            <a:pPr indent="-342900" lvl="0" marL="342900" rtl="0" algn="l">
              <a:spcBef>
                <a:spcPts val="448"/>
              </a:spcBef>
              <a:spcAft>
                <a:spcPts val="0"/>
              </a:spcAft>
              <a:buClr>
                <a:schemeClr val="dk1"/>
              </a:buClr>
              <a:buSzPct val="100000"/>
              <a:buChar char="•"/>
            </a:pPr>
            <a:r>
              <a:rPr lang="en-US"/>
              <a:t>Groundwater recharge = injecting to aquifers via ASR Wells</a:t>
            </a:r>
            <a:endParaRPr/>
          </a:p>
          <a:p>
            <a:pPr indent="-342900" lvl="0" marL="342900" rtl="0" algn="l">
              <a:spcBef>
                <a:spcPts val="448"/>
              </a:spcBef>
              <a:spcAft>
                <a:spcPts val="0"/>
              </a:spcAft>
              <a:buSzPct val="100000"/>
              <a:buChar char="•"/>
            </a:pPr>
            <a:r>
              <a:rPr lang="en-US"/>
              <a:t>Prior to injection into ASR wells, the water must be treated to meet Fl’s primary and secondary drinking water quality standards</a:t>
            </a:r>
            <a:endParaRPr/>
          </a:p>
          <a:p>
            <a:pPr indent="-342900" lvl="0" marL="342900" rtl="0" algn="l">
              <a:spcBef>
                <a:spcPts val="448"/>
              </a:spcBef>
              <a:spcAft>
                <a:spcPts val="0"/>
              </a:spcAft>
              <a:buSzPct val="100000"/>
              <a:buChar char="•"/>
            </a:pPr>
            <a:r>
              <a:rPr lang="en-US"/>
              <a:t>The level of treatment after withdrawing from the ASR depends on the use of the water</a:t>
            </a:r>
            <a:endParaRPr/>
          </a:p>
          <a:p>
            <a:pPr indent="-342900" lvl="0" marL="342900" rtl="0" algn="l">
              <a:spcBef>
                <a:spcPts val="448"/>
              </a:spcBef>
              <a:spcAft>
                <a:spcPts val="0"/>
              </a:spcAft>
              <a:buSzPct val="100000"/>
              <a:buChar char="•"/>
            </a:pPr>
            <a:r>
              <a:rPr lang="en-US"/>
              <a:t>Before introduction into a public water supply treatment facility the water is treated to meet standards requiring water be safe for human consumption</a:t>
            </a:r>
            <a:endParaRPr/>
          </a:p>
          <a:p>
            <a:pPr indent="-342900" lvl="0" marL="342900" rtl="0" algn="l">
              <a:spcBef>
                <a:spcPts val="448"/>
              </a:spcBef>
              <a:spcAft>
                <a:spcPts val="0"/>
              </a:spcAft>
              <a:buClr>
                <a:schemeClr val="dk1"/>
              </a:buClr>
              <a:buSzPct val="100000"/>
              <a:buChar char="•"/>
            </a:pPr>
            <a:r>
              <a:rPr lang="en-US"/>
              <a:t>2032 is the goal year when reused water would be cleaned and available as drinking water</a:t>
            </a:r>
            <a:endParaRPr/>
          </a:p>
          <a:p>
            <a:pPr indent="-342900" lvl="0" marL="342900" rtl="0" algn="l">
              <a:spcBef>
                <a:spcPts val="448"/>
              </a:spcBef>
              <a:spcAft>
                <a:spcPts val="0"/>
              </a:spcAft>
              <a:buClr>
                <a:schemeClr val="dk1"/>
              </a:buClr>
              <a:buSzPct val="100000"/>
              <a:buChar char="•"/>
            </a:pPr>
            <a:r>
              <a:rPr lang="en-US"/>
              <a:t>ASR Wells have been used throughout the US and in FL for nearly 40 years, there are over thirty </a:t>
            </a:r>
            <a:r>
              <a:rPr lang="en-US"/>
              <a:t>operational</a:t>
            </a:r>
            <a:r>
              <a:rPr lang="en-US"/>
              <a:t> ASR Systems in FL. ASR Wells can use a </a:t>
            </a:r>
            <a:r>
              <a:rPr lang="en-US"/>
              <a:t>variety</a:t>
            </a:r>
            <a:r>
              <a:rPr lang="en-US"/>
              <a:t> of sources, such as surface water, graywater, blackwater, etc. So ASR Well use does not necessarily mean re-use blackwater. </a:t>
            </a:r>
            <a:endParaRPr/>
          </a:p>
        </p:txBody>
      </p:sp>
      <p:sp>
        <p:nvSpPr>
          <p:cNvPr id="116" name="Google Shape;11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ASR Wells in Volusia County</a:t>
            </a:r>
            <a:endParaRPr/>
          </a:p>
        </p:txBody>
      </p:sp>
      <p:sp>
        <p:nvSpPr>
          <p:cNvPr id="122" name="Google Shape;122;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27660" lvl="0" marL="342900" rtl="0" algn="l">
              <a:spcBef>
                <a:spcPts val="0"/>
              </a:spcBef>
              <a:spcAft>
                <a:spcPts val="0"/>
              </a:spcAft>
              <a:buClr>
                <a:schemeClr val="dk1"/>
              </a:buClr>
              <a:buSzPct val="100000"/>
              <a:buChar char="•"/>
            </a:pPr>
            <a:r>
              <a:rPr lang="en-US"/>
              <a:t>Currently there are no operational ASR Systems in Volusia county</a:t>
            </a:r>
            <a:endParaRPr/>
          </a:p>
          <a:p>
            <a:pPr indent="-327660" lvl="0" marL="342900" rtl="0" algn="l">
              <a:spcBef>
                <a:spcPts val="640"/>
              </a:spcBef>
              <a:spcAft>
                <a:spcPts val="0"/>
              </a:spcAft>
              <a:buClr>
                <a:schemeClr val="dk1"/>
              </a:buClr>
              <a:buSzPct val="100000"/>
              <a:buChar char="•"/>
            </a:pPr>
            <a:r>
              <a:rPr lang="en-US"/>
              <a:t>4 wells were permitted in the past: 1 in Daytona, 1 in Deland, 1 in Ormond, 1 in NSB</a:t>
            </a:r>
            <a:endParaRPr/>
          </a:p>
          <a:p>
            <a:pPr indent="-245428" lvl="0" marL="342900" rtl="0" algn="l">
              <a:spcBef>
                <a:spcPts val="640"/>
              </a:spcBef>
              <a:spcAft>
                <a:spcPts val="0"/>
              </a:spcAft>
              <a:buSzPct val="56250"/>
              <a:buChar char="•"/>
            </a:pPr>
            <a:r>
              <a:rPr lang="en-US"/>
              <a:t>The Daytona </a:t>
            </a:r>
            <a:r>
              <a:rPr lang="en-US"/>
              <a:t>Beach</a:t>
            </a:r>
            <a:r>
              <a:rPr lang="en-US"/>
              <a:t> test/exploratory ASR Well was constructed but never tested</a:t>
            </a:r>
            <a:endParaRPr/>
          </a:p>
          <a:p>
            <a:pPr indent="-245428" lvl="0" marL="342900" rtl="0" algn="l">
              <a:spcBef>
                <a:spcPts val="640"/>
              </a:spcBef>
              <a:spcAft>
                <a:spcPts val="0"/>
              </a:spcAft>
              <a:buSzPct val="56250"/>
              <a:buChar char="•"/>
            </a:pPr>
            <a:r>
              <a:rPr lang="en-US"/>
              <a:t>The ASR </a:t>
            </a:r>
            <a:r>
              <a:rPr lang="en-US"/>
              <a:t>well in Deland went through testing but was never operational </a:t>
            </a:r>
            <a:endParaRPr/>
          </a:p>
          <a:p>
            <a:pPr indent="-327660" lvl="0" marL="342900" rtl="0" algn="l">
              <a:spcBef>
                <a:spcPts val="640"/>
              </a:spcBef>
              <a:spcAft>
                <a:spcPts val="0"/>
              </a:spcAft>
              <a:buClr>
                <a:schemeClr val="dk1"/>
              </a:buClr>
              <a:buSzPct val="100000"/>
              <a:buChar char="•"/>
            </a:pPr>
            <a:r>
              <a:rPr lang="en-US"/>
              <a:t>There have been permits issued for two injection wells in Deltona however neither have been constructed and neither are permitted for injection of treated waste water.</a:t>
            </a:r>
            <a:endParaRPr/>
          </a:p>
        </p:txBody>
      </p:sp>
      <p:sp>
        <p:nvSpPr>
          <p:cNvPr id="123" name="Google Shape;12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The Potential Deltona Wells</a:t>
            </a:r>
            <a:endParaRPr/>
          </a:p>
        </p:txBody>
      </p:sp>
      <p:sp>
        <p:nvSpPr>
          <p:cNvPr id="129" name="Google Shape;129;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10000"/>
          </a:bodyPr>
          <a:lstStyle/>
          <a:p>
            <a:pPr indent="-342900" lvl="0" marL="342900" rtl="0" algn="l">
              <a:spcBef>
                <a:spcPts val="0"/>
              </a:spcBef>
              <a:spcAft>
                <a:spcPts val="0"/>
              </a:spcAft>
              <a:buClr>
                <a:schemeClr val="dk1"/>
              </a:buClr>
              <a:buSzPct val="100000"/>
              <a:buChar char="•"/>
            </a:pPr>
            <a:r>
              <a:rPr lang="en-US"/>
              <a:t>Funding for one of the wells has not been obtained. For the well which has obtained funding, construction has not been initiated; this well aims to re-inject treated surface water into the aquifer.</a:t>
            </a:r>
            <a:endParaRPr/>
          </a:p>
          <a:p>
            <a:pPr indent="-342900" lvl="0" marL="342900" rtl="0" algn="l">
              <a:spcBef>
                <a:spcPts val="448"/>
              </a:spcBef>
              <a:spcAft>
                <a:spcPts val="0"/>
              </a:spcAft>
              <a:buClr>
                <a:schemeClr val="dk1"/>
              </a:buClr>
              <a:buSzPct val="100000"/>
              <a:buChar char="•"/>
            </a:pPr>
            <a:r>
              <a:rPr lang="en-US"/>
              <a:t>For this well which has obtained funding - attempts are being made at permitting prior to </a:t>
            </a:r>
            <a:r>
              <a:rPr lang="en-US"/>
              <a:t>construction, </a:t>
            </a:r>
            <a:r>
              <a:rPr lang="en-US"/>
              <a:t>to allow the well to enter the testing period, because of course you do not want to build something you will not be allowed to test.</a:t>
            </a:r>
            <a:endParaRPr/>
          </a:p>
          <a:p>
            <a:pPr indent="-342900" lvl="0" marL="342900" rtl="0" algn="l">
              <a:spcBef>
                <a:spcPts val="448"/>
              </a:spcBef>
              <a:spcAft>
                <a:spcPts val="0"/>
              </a:spcAft>
              <a:buClr>
                <a:schemeClr val="dk1"/>
              </a:buClr>
              <a:buSzPct val="100000"/>
              <a:buChar char="•"/>
            </a:pPr>
            <a:r>
              <a:rPr lang="en-US"/>
              <a:t>Obtained construction funding is a 50/50 share between the state and the city of Deltona.</a:t>
            </a:r>
            <a:endParaRPr/>
          </a:p>
          <a:p>
            <a:pPr indent="-342900" lvl="0" marL="342900" rtl="0" algn="l">
              <a:spcBef>
                <a:spcPts val="448"/>
              </a:spcBef>
              <a:spcAft>
                <a:spcPts val="0"/>
              </a:spcAft>
              <a:buClr>
                <a:schemeClr val="dk1"/>
              </a:buClr>
              <a:buSzPct val="100000"/>
              <a:buChar char="•"/>
            </a:pPr>
            <a:r>
              <a:rPr lang="en-US"/>
              <a:t>This well proposes to use surface water from Lake Monroe.</a:t>
            </a:r>
            <a:endParaRPr/>
          </a:p>
          <a:p>
            <a:pPr indent="-342900" lvl="0" marL="342900" rtl="0" algn="l">
              <a:spcBef>
                <a:spcPts val="448"/>
              </a:spcBef>
              <a:spcAft>
                <a:spcPts val="0"/>
              </a:spcAft>
              <a:buClr>
                <a:schemeClr val="dk1"/>
              </a:buClr>
              <a:buSzPct val="100000"/>
              <a:buChar char="•"/>
            </a:pPr>
            <a:r>
              <a:rPr lang="en-US"/>
              <a:t>Wastewater is not permitted to use during the testing phase and high level disinfection criteria have to be met before reclaimed water is released to storage or reclaimed water use system.</a:t>
            </a:r>
            <a:endParaRPr/>
          </a:p>
        </p:txBody>
      </p:sp>
      <p:sp>
        <p:nvSpPr>
          <p:cNvPr id="130" name="Google Shape;1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457200" y="2271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Advantages of ASR Wells</a:t>
            </a:r>
            <a:endParaRPr/>
          </a:p>
        </p:txBody>
      </p:sp>
      <p:sp>
        <p:nvSpPr>
          <p:cNvPr id="136" name="Google Shape;136;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Advantage of ASR wells are that it eliminates the need to acquire large areas of land for surface </a:t>
            </a:r>
            <a:r>
              <a:rPr lang="en-US"/>
              <a:t>reservoirs</a:t>
            </a:r>
            <a:r>
              <a:rPr lang="en-US"/>
              <a:t> which are vulnerable to tidal influences and substantial evaporative losses</a:t>
            </a:r>
            <a:endParaRPr/>
          </a:p>
        </p:txBody>
      </p:sp>
      <p:sp>
        <p:nvSpPr>
          <p:cNvPr id="137" name="Google Shape;13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000"/>
              <a:buFont typeface="Calibri"/>
              <a:buNone/>
            </a:pPr>
            <a:r>
              <a:rPr lang="en-US" sz="2700"/>
              <a:t>Some</a:t>
            </a:r>
            <a:r>
              <a:rPr lang="en-US" sz="2700"/>
              <a:t> of the mandatory safety and treatment precautions</a:t>
            </a:r>
            <a:endParaRPr sz="2700"/>
          </a:p>
        </p:txBody>
      </p:sp>
      <p:sp>
        <p:nvSpPr>
          <p:cNvPr id="143" name="Google Shape;14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When a proposal for use of an ASR Well is made, it is mandated there can be no more than 5mg/L of total suspended solids before application of disinfectant</a:t>
            </a:r>
            <a:endParaRPr/>
          </a:p>
          <a:p>
            <a:pPr indent="-342900" lvl="0" marL="342900" rtl="0" algn="l">
              <a:spcBef>
                <a:spcPts val="640"/>
              </a:spcBef>
              <a:spcAft>
                <a:spcPts val="0"/>
              </a:spcAft>
              <a:buClr>
                <a:schemeClr val="dk1"/>
              </a:buClr>
              <a:buSzPts val="3200"/>
              <a:buChar char="•"/>
            </a:pPr>
            <a:r>
              <a:rPr lang="en-US"/>
              <a:t>For context, surface water typically has 1000mg/L total suspended solids</a:t>
            </a:r>
            <a:endParaRPr/>
          </a:p>
          <a:p>
            <a:pPr indent="-342900" lvl="0" marL="342900" rtl="0" algn="l">
              <a:spcBef>
                <a:spcPts val="640"/>
              </a:spcBef>
              <a:spcAft>
                <a:spcPts val="0"/>
              </a:spcAft>
              <a:buClr>
                <a:schemeClr val="dk1"/>
              </a:buClr>
              <a:buSzPts val="3200"/>
              <a:buChar char="•"/>
            </a:pPr>
            <a:r>
              <a:rPr lang="en-US"/>
              <a:t>The Nitrogen content cannot be greater than 10mg/L</a:t>
            </a:r>
            <a:endParaRPr/>
          </a:p>
        </p:txBody>
      </p:sp>
      <p:sp>
        <p:nvSpPr>
          <p:cNvPr id="144" name="Google Shape;14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More important definitions</a:t>
            </a:r>
            <a:endParaRPr/>
          </a:p>
        </p:txBody>
      </p:sp>
      <p:sp>
        <p:nvSpPr>
          <p:cNvPr id="150" name="Google Shape;150;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58140" lvl="0" marL="342900" rtl="0" algn="l">
              <a:spcBef>
                <a:spcPts val="0"/>
              </a:spcBef>
              <a:spcAft>
                <a:spcPts val="0"/>
              </a:spcAft>
              <a:buClr>
                <a:schemeClr val="dk1"/>
              </a:buClr>
              <a:buSzPct val="100000"/>
              <a:buChar char="•"/>
            </a:pPr>
            <a:r>
              <a:rPr lang="en-US"/>
              <a:t>Direct potable reuse is the delivery of advanced treated water from an advanced treatment water facility to a drinking water facility or directly into a potable water supply distribution system</a:t>
            </a:r>
            <a:endParaRPr/>
          </a:p>
          <a:p>
            <a:pPr indent="-358140" lvl="0" marL="342900" rtl="0" algn="l">
              <a:spcBef>
                <a:spcPts val="544"/>
              </a:spcBef>
              <a:spcAft>
                <a:spcPts val="0"/>
              </a:spcAft>
              <a:buClr>
                <a:schemeClr val="dk1"/>
              </a:buClr>
              <a:buSzPct val="100000"/>
              <a:buChar char="•"/>
            </a:pPr>
            <a:r>
              <a:rPr lang="en-US"/>
              <a:t>This type of potable reuse does not include an environmental buffer</a:t>
            </a:r>
            <a:endParaRPr/>
          </a:p>
          <a:p>
            <a:pPr indent="-358140" lvl="0" marL="342900" rtl="0" algn="l">
              <a:spcBef>
                <a:spcPts val="544"/>
              </a:spcBef>
              <a:spcAft>
                <a:spcPts val="0"/>
              </a:spcAft>
              <a:buSzPct val="100000"/>
              <a:buChar char="•"/>
            </a:pPr>
            <a:r>
              <a:rPr lang="en-US"/>
              <a:t>Indirect potable reuse is where highly treated wastewater is intentionally introduced into an environmental buffer - such as a groundwater aquifer - before being withdrawn, further treated if needed, and supplied as drinking water</a:t>
            </a:r>
            <a:endParaRPr/>
          </a:p>
        </p:txBody>
      </p:sp>
      <p:sp>
        <p:nvSpPr>
          <p:cNvPr id="151" name="Google Shape;15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0000"/>
              </a:buClr>
              <a:buSzPct val="100000"/>
              <a:buFont typeface="Calibri"/>
              <a:buNone/>
            </a:pPr>
            <a:r>
              <a:rPr lang="en-US"/>
              <a:t>ASR Wells are an example of indirect potable reuse</a:t>
            </a:r>
            <a:endParaRPr/>
          </a:p>
        </p:txBody>
      </p:sp>
      <p:sp>
        <p:nvSpPr>
          <p:cNvPr id="157" name="Google Shape;157;p23"/>
          <p:cNvSpPr txBox="1"/>
          <p:nvPr>
            <p:ph idx="1" type="body"/>
          </p:nvPr>
        </p:nvSpPr>
        <p:spPr>
          <a:xfrm>
            <a:off x="457200" y="1624013"/>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This is important for storage as it supplements the aquifers</a:t>
            </a:r>
            <a:endParaRPr/>
          </a:p>
          <a:p>
            <a:pPr indent="-342900" lvl="0" marL="342900" rtl="0" algn="l">
              <a:spcBef>
                <a:spcPts val="640"/>
              </a:spcBef>
              <a:spcAft>
                <a:spcPts val="0"/>
              </a:spcAft>
              <a:buClr>
                <a:schemeClr val="dk1"/>
              </a:buClr>
              <a:buSzPts val="3200"/>
              <a:buChar char="•"/>
            </a:pPr>
            <a:r>
              <a:rPr lang="en-US"/>
              <a:t>It is important to have a large storage of drinking water</a:t>
            </a:r>
            <a:endParaRPr/>
          </a:p>
          <a:p>
            <a:pPr indent="0" lvl="0" marL="342900" rtl="0" algn="l">
              <a:spcBef>
                <a:spcPts val="640"/>
              </a:spcBef>
              <a:spcAft>
                <a:spcPts val="0"/>
              </a:spcAft>
              <a:buNone/>
            </a:pPr>
            <a:r>
              <a:t/>
            </a:r>
            <a:endParaRPr/>
          </a:p>
        </p:txBody>
      </p:sp>
      <p:sp>
        <p:nvSpPr>
          <p:cNvPr id="158" name="Google Shape;15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US" sz="2660"/>
              <a:t>Another example of indirect potable reuse besides ASR Well injection into aquifers is surface water augmentation</a:t>
            </a:r>
            <a:endParaRPr sz="2660"/>
          </a:p>
        </p:txBody>
      </p:sp>
      <p:sp>
        <p:nvSpPr>
          <p:cNvPr id="165" name="Google Shape;165;p2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
        <p:nvSpPr>
          <p:cNvPr id="166" name="Google Shape;166;p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7" name="Google Shape;167;p24"/>
          <p:cNvSpPr txBox="1"/>
          <p:nvPr/>
        </p:nvSpPr>
        <p:spPr>
          <a:xfrm>
            <a:off x="63750" y="1600200"/>
            <a:ext cx="9016500" cy="4600500"/>
          </a:xfrm>
          <a:prstGeom prst="rect">
            <a:avLst/>
          </a:prstGeom>
          <a:noFill/>
          <a:ln>
            <a:noFill/>
          </a:ln>
        </p:spPr>
        <p:txBody>
          <a:bodyPr anchorCtr="0" anchor="t" bIns="91425" lIns="91425" spcFirstLastPara="1" rIns="91425" wrap="square" tIns="91425">
            <a:spAutoFit/>
          </a:bodyPr>
          <a:lstStyle/>
          <a:p>
            <a:pPr indent="-247650" lvl="0" marL="342900" rtl="0" algn="l">
              <a:spcBef>
                <a:spcPts val="640"/>
              </a:spcBef>
              <a:spcAft>
                <a:spcPts val="0"/>
              </a:spcAft>
              <a:buClr>
                <a:schemeClr val="dk1"/>
              </a:buClr>
              <a:buSzPts val="1700"/>
              <a:buChar char="•"/>
            </a:pPr>
            <a:r>
              <a:rPr lang="en-US" sz="1700">
                <a:solidFill>
                  <a:schemeClr val="dk1"/>
                </a:solidFill>
                <a:latin typeface="Calibri"/>
                <a:ea typeface="Calibri"/>
                <a:cs typeface="Calibri"/>
                <a:sym typeface="Calibri"/>
              </a:rPr>
              <a:t>Where discharges</a:t>
            </a:r>
            <a:r>
              <a:rPr lang="en-US" sz="1700">
                <a:solidFill>
                  <a:schemeClr val="dk1"/>
                </a:solidFill>
                <a:latin typeface="Calibri"/>
                <a:ea typeface="Calibri"/>
                <a:cs typeface="Calibri"/>
                <a:sym typeface="Calibri"/>
              </a:rPr>
              <a:t> of reclaimed water or advanced treated water to surface water may be permitted when there is a need to supplement potable water sources.</a:t>
            </a:r>
            <a:endParaRPr sz="1700">
              <a:solidFill>
                <a:schemeClr val="dk1"/>
              </a:solidFill>
              <a:latin typeface="Calibri"/>
              <a:ea typeface="Calibri"/>
              <a:cs typeface="Calibri"/>
              <a:sym typeface="Calibri"/>
            </a:endParaRPr>
          </a:p>
          <a:p>
            <a:pPr indent="-247650" lvl="0" marL="342900" rtl="0" algn="l">
              <a:spcBef>
                <a:spcPts val="64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Reclaimed water (also called recycled or reused water) is treated wastewater.</a:t>
            </a:r>
            <a:endParaRPr sz="1700">
              <a:solidFill>
                <a:schemeClr val="dk1"/>
              </a:solidFill>
              <a:latin typeface="Calibri"/>
              <a:ea typeface="Calibri"/>
              <a:cs typeface="Calibri"/>
              <a:sym typeface="Calibri"/>
            </a:endParaRPr>
          </a:p>
          <a:p>
            <a:pPr indent="-247650" lvl="0" marL="342900" rtl="0" algn="l">
              <a:spcBef>
                <a:spcPts val="64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Advanced treated water is even higher levels of purification using reverse osmosis, UV Disinfection, advanced oxidation and other processes to remove </a:t>
            </a:r>
            <a:r>
              <a:rPr lang="en-US" sz="1700">
                <a:solidFill>
                  <a:schemeClr val="dk1"/>
                </a:solidFill>
                <a:latin typeface="Calibri"/>
                <a:ea typeface="Calibri"/>
                <a:cs typeface="Calibri"/>
                <a:sym typeface="Calibri"/>
              </a:rPr>
              <a:t>pathogens</a:t>
            </a:r>
            <a:r>
              <a:rPr lang="en-US" sz="1700">
                <a:solidFill>
                  <a:schemeClr val="dk1"/>
                </a:solidFill>
                <a:latin typeface="Calibri"/>
                <a:ea typeface="Calibri"/>
                <a:cs typeface="Calibri"/>
                <a:sym typeface="Calibri"/>
              </a:rPr>
              <a:t>, chemicals, and contaminants to near-drinking-water quality. </a:t>
            </a:r>
            <a:endParaRPr sz="1700">
              <a:solidFill>
                <a:schemeClr val="dk1"/>
              </a:solidFill>
              <a:latin typeface="Calibri"/>
              <a:ea typeface="Calibri"/>
              <a:cs typeface="Calibri"/>
              <a:sym typeface="Calibri"/>
            </a:endParaRPr>
          </a:p>
          <a:p>
            <a:pPr indent="-247650" lvl="0" marL="342900" rtl="0" algn="l">
              <a:spcBef>
                <a:spcPts val="64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In this method reclaimed or advanced treated water is intentionally released into a natural surface body like a river, lake or reservoir rather than directly into pipes or a treatment plant. It requires rigorous monitoring, treatment standards and public health protections. </a:t>
            </a:r>
            <a:endParaRPr sz="1700">
              <a:solidFill>
                <a:schemeClr val="dk1"/>
              </a:solidFill>
              <a:latin typeface="Calibri"/>
              <a:ea typeface="Calibri"/>
              <a:cs typeface="Calibri"/>
              <a:sym typeface="Calibri"/>
            </a:endParaRPr>
          </a:p>
          <a:p>
            <a:pPr indent="-247650" lvl="0" marL="342900" rtl="0" algn="l">
              <a:spcBef>
                <a:spcPts val="64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Water scarcity or supply issues is typically what triggers this permitting. If a region faces shortages due to drought, or population </a:t>
            </a:r>
            <a:r>
              <a:rPr lang="en-US" sz="1700">
                <a:solidFill>
                  <a:schemeClr val="dk1"/>
                </a:solidFill>
                <a:latin typeface="Calibri"/>
                <a:ea typeface="Calibri"/>
                <a:cs typeface="Calibri"/>
                <a:sym typeface="Calibri"/>
              </a:rPr>
              <a:t>growth, </a:t>
            </a:r>
            <a:r>
              <a:rPr lang="en-US" sz="1700">
                <a:solidFill>
                  <a:schemeClr val="dk1"/>
                </a:solidFill>
                <a:latin typeface="Calibri"/>
                <a:ea typeface="Calibri"/>
                <a:cs typeface="Calibri"/>
                <a:sym typeface="Calibri"/>
              </a:rPr>
              <a:t>this type of indirect potable reuse can boost the volume of surface water body. It is indirect potable reuse because there is an environmental buffer - the surface water body between the discharge point and the drinking water intake unlike direct potable reuse where treated wastewater goes straight into the supply system without a buffer. Indirect potable reuse like this and ASR Wells addresses water scarcity sustainably by turning wastewater into a reliable local resource instead of discharging it to the ocean or elsewhere.</a:t>
            </a:r>
            <a:endParaRPr sz="17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To review some Safety Standards for the Reuse of Blackwater, </a:t>
            </a:r>
            <a:endParaRPr/>
          </a:p>
        </p:txBody>
      </p:sp>
      <p:sp>
        <p:nvSpPr>
          <p:cNvPr id="173" name="Google Shape;17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27660" lvl="0" marL="342900" rtl="0" algn="l">
              <a:spcBef>
                <a:spcPts val="0"/>
              </a:spcBef>
              <a:spcAft>
                <a:spcPts val="0"/>
              </a:spcAft>
              <a:buClr>
                <a:schemeClr val="dk1"/>
              </a:buClr>
              <a:buSzPct val="100000"/>
              <a:buChar char="•"/>
            </a:pPr>
            <a:r>
              <a:rPr lang="en-US"/>
              <a:t>The water is mandated to reliably achieve a 12 log reduction in Giardia lambia cysts and cryptosporidium</a:t>
            </a:r>
            <a:endParaRPr/>
          </a:p>
          <a:p>
            <a:pPr indent="-327660" lvl="0" marL="342900" rtl="0" algn="l">
              <a:spcBef>
                <a:spcPts val="592"/>
              </a:spcBef>
              <a:spcAft>
                <a:spcPts val="0"/>
              </a:spcAft>
              <a:buClr>
                <a:schemeClr val="dk1"/>
              </a:buClr>
              <a:buSzPct val="100000"/>
              <a:buChar char="•"/>
            </a:pPr>
            <a:r>
              <a:rPr lang="en-US"/>
              <a:t>For context, typically water standards include only a 4-5 log reduction</a:t>
            </a:r>
            <a:endParaRPr/>
          </a:p>
          <a:p>
            <a:pPr indent="-327660" lvl="0" marL="342900" rtl="0" algn="l">
              <a:spcBef>
                <a:spcPts val="592"/>
              </a:spcBef>
              <a:spcAft>
                <a:spcPts val="0"/>
              </a:spcAft>
              <a:buClr>
                <a:schemeClr val="dk1"/>
              </a:buClr>
              <a:buSzPct val="100000"/>
              <a:buChar char="•"/>
            </a:pPr>
            <a:r>
              <a:rPr lang="en-US"/>
              <a:t>A 12 log reduction is 12 9s: 99.9999999999% reduction</a:t>
            </a:r>
            <a:endParaRPr/>
          </a:p>
          <a:p>
            <a:pPr indent="-327660" lvl="0" marL="342900" rtl="0" algn="l">
              <a:spcBef>
                <a:spcPts val="592"/>
              </a:spcBef>
              <a:spcAft>
                <a:spcPts val="0"/>
              </a:spcAft>
              <a:buClr>
                <a:schemeClr val="dk1"/>
              </a:buClr>
              <a:buSzPct val="100000"/>
              <a:buChar char="•"/>
            </a:pPr>
            <a:r>
              <a:rPr lang="en-US"/>
              <a:t>I.e. A 4 log reduction is 99.99% reduction</a:t>
            </a:r>
            <a:endParaRPr/>
          </a:p>
          <a:p>
            <a:pPr indent="-327660" lvl="0" marL="342900" rtl="0" algn="l">
              <a:spcBef>
                <a:spcPts val="592"/>
              </a:spcBef>
              <a:spcAft>
                <a:spcPts val="0"/>
              </a:spcAft>
              <a:buClr>
                <a:schemeClr val="dk1"/>
              </a:buClr>
              <a:buSzPct val="100000"/>
              <a:buChar char="•"/>
            </a:pPr>
            <a:r>
              <a:rPr lang="en-US"/>
              <a:t>So A 12 log reduction in giardia lambia cysts means a 1 in a trillion elimination rate, so if there was a vial of a trillion giardia lambia cysts, after treatment there could only be one left</a:t>
            </a:r>
            <a:endParaRPr/>
          </a:p>
          <a:p>
            <a:pPr indent="0" lvl="0" marL="0" rtl="0" algn="l">
              <a:spcBef>
                <a:spcPts val="592"/>
              </a:spcBef>
              <a:spcAft>
                <a:spcPts val="0"/>
              </a:spcAft>
              <a:buClr>
                <a:schemeClr val="dk1"/>
              </a:buClr>
              <a:buSzPct val="100000"/>
              <a:buNone/>
            </a:pPr>
            <a:r>
              <a:t/>
            </a:r>
            <a:endParaRPr/>
          </a:p>
        </p:txBody>
      </p:sp>
      <p:sp>
        <p:nvSpPr>
          <p:cNvPr id="174" name="Google Shape;17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To review Virus Reduction Standards,</a:t>
            </a:r>
            <a:endParaRPr/>
          </a:p>
        </p:txBody>
      </p:sp>
      <p:sp>
        <p:nvSpPr>
          <p:cNvPr id="180" name="Google Shape;180;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27660" lvl="0" marL="342900" rtl="0" algn="l">
              <a:spcBef>
                <a:spcPts val="0"/>
              </a:spcBef>
              <a:spcAft>
                <a:spcPts val="0"/>
              </a:spcAft>
              <a:buClr>
                <a:schemeClr val="dk1"/>
              </a:buClr>
              <a:buSzPct val="100000"/>
              <a:buChar char="•"/>
            </a:pPr>
            <a:r>
              <a:rPr lang="en-US"/>
              <a:t>The standard for rotavirus and norovirus is even more stringent, requiring a 14 log reduction or a 1/10 trillion elimination rate - more stringent than bottled water which is a required 4 log reduction.</a:t>
            </a:r>
            <a:endParaRPr/>
          </a:p>
          <a:p>
            <a:pPr indent="-327660" lvl="0" marL="342900" rtl="0" algn="l">
              <a:spcBef>
                <a:spcPts val="592"/>
              </a:spcBef>
              <a:spcAft>
                <a:spcPts val="0"/>
              </a:spcAft>
              <a:buClr>
                <a:schemeClr val="dk1"/>
              </a:buClr>
              <a:buSzPct val="100000"/>
              <a:buChar char="•"/>
            </a:pPr>
            <a:r>
              <a:rPr lang="en-US"/>
              <a:t>95% of daily measurements/month have to meet or exceed these log inactivation disinfection requirements before it is injected into the aquifer</a:t>
            </a:r>
            <a:endParaRPr/>
          </a:p>
          <a:p>
            <a:pPr indent="-327660" lvl="0" marL="342900" rtl="0" algn="l">
              <a:spcBef>
                <a:spcPts val="592"/>
              </a:spcBef>
              <a:spcAft>
                <a:spcPts val="0"/>
              </a:spcAft>
              <a:buSzPct val="100000"/>
              <a:buChar char="•"/>
            </a:pPr>
            <a:r>
              <a:rPr lang="en-US"/>
              <a:t>Requirements for re-use blackwater include that the risk of acute gastroenteritis from drinking the water must be less than 1/10,000 annually which is the benchmark standard for drinking water in the </a:t>
            </a:r>
            <a:r>
              <a:rPr lang="en-US"/>
              <a:t>United</a:t>
            </a:r>
            <a:r>
              <a:rPr lang="en-US"/>
              <a:t> </a:t>
            </a:r>
            <a:r>
              <a:rPr lang="en-US"/>
              <a:t>States</a:t>
            </a:r>
            <a:r>
              <a:rPr lang="en-US"/>
              <a:t> achieved with a 4-log reduction. </a:t>
            </a:r>
            <a:endParaRPr/>
          </a:p>
        </p:txBody>
      </p:sp>
      <p:sp>
        <p:nvSpPr>
          <p:cNvPr id="181" name="Google Shape;18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There must be Critical Pathogen Reduction Points in an ASR System</a:t>
            </a:r>
            <a:endParaRPr/>
          </a:p>
        </p:txBody>
      </p:sp>
      <p:sp>
        <p:nvSpPr>
          <p:cNvPr id="187" name="Google Shape;18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There must be a minimum of 3 separate critical points for pathogen reduction including one disinfection control point and one filtration control point</a:t>
            </a:r>
            <a:endParaRPr/>
          </a:p>
          <a:p>
            <a:pPr indent="-342900" lvl="0" marL="342900" rtl="0" algn="l">
              <a:spcBef>
                <a:spcPts val="544"/>
              </a:spcBef>
              <a:spcAft>
                <a:spcPts val="0"/>
              </a:spcAft>
              <a:buClr>
                <a:schemeClr val="dk1"/>
              </a:buClr>
              <a:buSzPct val="100000"/>
              <a:buChar char="•"/>
            </a:pPr>
            <a:r>
              <a:rPr lang="en-US"/>
              <a:t>Design criteria have to address hazard identification, risk assessment, and the identification of at least two treatment barriers in addition to the comprehensive pretreatment and pollutant source control program</a:t>
            </a:r>
            <a:endParaRPr/>
          </a:p>
          <a:p>
            <a:pPr indent="-342900" lvl="0" marL="342900" rtl="0" algn="l">
              <a:spcBef>
                <a:spcPts val="544"/>
              </a:spcBef>
              <a:spcAft>
                <a:spcPts val="0"/>
              </a:spcAft>
              <a:buClr>
                <a:schemeClr val="dk1"/>
              </a:buClr>
              <a:buSzPct val="100000"/>
              <a:buChar char="•"/>
            </a:pPr>
            <a:r>
              <a:rPr lang="en-US"/>
              <a:t>Secondary containment must be provided so that chemicals from equipment failure, spillage, or accidental drainage shall not enter the water in conduits, treatment, or storage basins unless they are double walled pipes, tanks, or containers.</a:t>
            </a:r>
            <a:endParaRPr/>
          </a:p>
        </p:txBody>
      </p:sp>
      <p:sp>
        <p:nvSpPr>
          <p:cNvPr id="188" name="Google Shape;18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In planning, Log Reduction Credits are used,</a:t>
            </a:r>
            <a:endParaRPr/>
          </a:p>
        </p:txBody>
      </p:sp>
      <p:sp>
        <p:nvSpPr>
          <p:cNvPr id="194" name="Google Shape;194;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Log reduction credits are used during the planning period to determine if standards will be met in the future facility and during planned testing </a:t>
            </a:r>
            <a:endParaRPr/>
          </a:p>
          <a:p>
            <a:pPr indent="-342900" lvl="0" marL="342900" rtl="0" algn="l">
              <a:spcBef>
                <a:spcPts val="544"/>
              </a:spcBef>
              <a:spcAft>
                <a:spcPts val="0"/>
              </a:spcAft>
              <a:buClr>
                <a:schemeClr val="dk1"/>
              </a:buClr>
              <a:buSzPct val="100000"/>
              <a:buChar char="•"/>
            </a:pPr>
            <a:r>
              <a:rPr lang="en-US"/>
              <a:t>During the application process to enter testing phase an applicant must propose values for log reduction value credits in it's engineering report based on engineering analysis, pilot studies, and available research</a:t>
            </a:r>
            <a:endParaRPr/>
          </a:p>
          <a:p>
            <a:pPr indent="-342900" lvl="0" marL="342900" rtl="0" algn="l">
              <a:spcBef>
                <a:spcPts val="544"/>
              </a:spcBef>
              <a:spcAft>
                <a:spcPts val="0"/>
              </a:spcAft>
              <a:buClr>
                <a:schemeClr val="dk1"/>
              </a:buClr>
              <a:buSzPct val="100000"/>
              <a:buChar char="•"/>
            </a:pPr>
            <a:r>
              <a:rPr lang="en-US"/>
              <a:t>When you are engineering a plan, you have to have Systems planned that add up to the 12/14 log reduction, then once in testing, these amounts can be measured</a:t>
            </a:r>
            <a:endParaRPr/>
          </a:p>
        </p:txBody>
      </p:sp>
      <p:sp>
        <p:nvSpPr>
          <p:cNvPr id="195" name="Google Shape;19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To review Treatment Technologies,</a:t>
            </a:r>
            <a:endParaRPr/>
          </a:p>
        </p:txBody>
      </p:sp>
      <p:sp>
        <p:nvSpPr>
          <p:cNvPr id="201" name="Google Shape;20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Membrane filtration systems, including microfiltration, ultrafiltration, </a:t>
            </a:r>
            <a:r>
              <a:rPr i="1" lang="en-US"/>
              <a:t>nano</a:t>
            </a:r>
            <a:r>
              <a:rPr lang="en-US"/>
              <a:t>filtration, reverse osmosis, or alternative membrane technologies are some options to achieve the desired log reduction value</a:t>
            </a:r>
            <a:endParaRPr/>
          </a:p>
          <a:p>
            <a:pPr indent="-342900" lvl="0" marL="342900" rtl="0" algn="l">
              <a:spcBef>
                <a:spcPts val="640"/>
              </a:spcBef>
              <a:spcAft>
                <a:spcPts val="0"/>
              </a:spcAft>
              <a:buClr>
                <a:schemeClr val="dk1"/>
              </a:buClr>
              <a:buSzPts val="3200"/>
              <a:buChar char="•"/>
            </a:pPr>
            <a:r>
              <a:rPr lang="en-US"/>
              <a:t>UV Systems and oxidative systems will also be used to achieve a 12/14 log reduction</a:t>
            </a:r>
            <a:endParaRPr/>
          </a:p>
        </p:txBody>
      </p:sp>
      <p:sp>
        <p:nvSpPr>
          <p:cNvPr id="202" name="Google Shape;20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8" name="Google Shape;20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0.jpg" id="209" name="Google Shape;209;p30"/>
          <p:cNvPicPr preferRelativeResize="0"/>
          <p:nvPr>
            <p:ph idx="1" type="body"/>
          </p:nvPr>
        </p:nvPicPr>
        <p:blipFill rotWithShape="1">
          <a:blip r:embed="rId3">
            <a:alphaModFix/>
          </a:blip>
          <a:srcRect b="0" l="0" r="0" t="0"/>
          <a:stretch/>
        </p:blipFill>
        <p:spPr>
          <a:xfrm>
            <a:off x="1702553" y="1600200"/>
            <a:ext cx="5738893" cy="45259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15" name="Google Shape;215;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16" name="Google Shape;21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1.jpg" id="217" name="Google Shape;217;p31"/>
          <p:cNvPicPr preferRelativeResize="0"/>
          <p:nvPr/>
        </p:nvPicPr>
        <p:blipFill rotWithShape="1">
          <a:blip r:embed="rId3">
            <a:alphaModFix/>
          </a:blip>
          <a:srcRect b="0" l="0" r="0" t="0"/>
          <a:stretch/>
        </p:blipFill>
        <p:spPr>
          <a:xfrm>
            <a:off x="0" y="463826"/>
            <a:ext cx="9144000" cy="59303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23" name="Google Shape;223;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24" name="Google Shape;22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2.jpg" id="225" name="Google Shape;225;p32"/>
          <p:cNvPicPr preferRelativeResize="0"/>
          <p:nvPr/>
        </p:nvPicPr>
        <p:blipFill rotWithShape="1">
          <a:blip r:embed="rId3">
            <a:alphaModFix/>
          </a:blip>
          <a:srcRect b="0" l="0" r="0" t="0"/>
          <a:stretch/>
        </p:blipFill>
        <p:spPr>
          <a:xfrm>
            <a:off x="0" y="353400"/>
            <a:ext cx="9143999" cy="5853099"/>
          </a:xfrm>
          <a:prstGeom prst="rect">
            <a:avLst/>
          </a:prstGeom>
          <a:noFill/>
          <a:ln>
            <a:noFill/>
          </a:ln>
        </p:spPr>
      </p:pic>
      <p:sp>
        <p:nvSpPr>
          <p:cNvPr id="226" name="Google Shape;226;p32"/>
          <p:cNvSpPr txBox="1"/>
          <p:nvPr/>
        </p:nvSpPr>
        <p:spPr>
          <a:xfrm>
            <a:off x="994400" y="6292225"/>
            <a:ext cx="74925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solidFill>
                  <a:schemeClr val="dk1"/>
                </a:solidFill>
                <a:latin typeface="Calibri"/>
                <a:ea typeface="Calibri"/>
                <a:cs typeface="Calibri"/>
                <a:sym typeface="Calibri"/>
              </a:rPr>
              <a:t>CBOD5 = Carbonaceous Biochemical Oxygen Demand</a:t>
            </a:r>
            <a:endParaRPr sz="2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2" name="Google Shape;232;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33" name="Google Shape;23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3 (1).jpg" id="234" name="Google Shape;234;p33"/>
          <p:cNvPicPr preferRelativeResize="0"/>
          <p:nvPr/>
        </p:nvPicPr>
        <p:blipFill rotWithShape="1">
          <a:blip r:embed="rId3">
            <a:alphaModFix/>
          </a:blip>
          <a:srcRect b="0" l="0" r="0" t="0"/>
          <a:stretch/>
        </p:blipFill>
        <p:spPr>
          <a:xfrm>
            <a:off x="0" y="342350"/>
            <a:ext cx="9143999" cy="5783825"/>
          </a:xfrm>
          <a:prstGeom prst="rect">
            <a:avLst/>
          </a:prstGeom>
          <a:noFill/>
          <a:ln>
            <a:noFill/>
          </a:ln>
        </p:spPr>
      </p:pic>
      <p:sp>
        <p:nvSpPr>
          <p:cNvPr id="235" name="Google Shape;235;p33"/>
          <p:cNvSpPr txBox="1"/>
          <p:nvPr/>
        </p:nvSpPr>
        <p:spPr>
          <a:xfrm>
            <a:off x="1543050" y="6200363"/>
            <a:ext cx="6446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TSS = Total Suspended Solids</a:t>
            </a:r>
            <a:endParaRPr sz="3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41" name="Google Shape;241;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42" name="Google Shape;24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4.jpg" id="243" name="Google Shape;243;p34"/>
          <p:cNvPicPr preferRelativeResize="0"/>
          <p:nvPr/>
        </p:nvPicPr>
        <p:blipFill rotWithShape="1">
          <a:blip r:embed="rId3">
            <a:alphaModFix/>
          </a:blip>
          <a:srcRect b="0" l="0" r="0" t="0"/>
          <a:stretch/>
        </p:blipFill>
        <p:spPr>
          <a:xfrm>
            <a:off x="107830" y="0"/>
            <a:ext cx="8928340"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49" name="Google Shape;249;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50" name="Google Shape;25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5.jpg" id="251" name="Google Shape;251;p35"/>
          <p:cNvPicPr preferRelativeResize="0"/>
          <p:nvPr/>
        </p:nvPicPr>
        <p:blipFill rotWithShape="1">
          <a:blip r:embed="rId3">
            <a:alphaModFix/>
          </a:blip>
          <a:srcRect b="0" l="0" r="0" t="0"/>
          <a:stretch/>
        </p:blipFill>
        <p:spPr>
          <a:xfrm>
            <a:off x="0" y="281608"/>
            <a:ext cx="9144000" cy="629478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57" name="Google Shape;25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58" name="Google Shape;25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6.jpg" id="259" name="Google Shape;259;p36"/>
          <p:cNvPicPr preferRelativeResize="0"/>
          <p:nvPr/>
        </p:nvPicPr>
        <p:blipFill rotWithShape="1">
          <a:blip r:embed="rId3">
            <a:alphaModFix/>
          </a:blip>
          <a:srcRect b="0" l="0" r="0" t="0"/>
          <a:stretch/>
        </p:blipFill>
        <p:spPr>
          <a:xfrm>
            <a:off x="0" y="33130"/>
            <a:ext cx="9144000" cy="679173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65" name="Google Shape;265;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66" name="Google Shape;26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7 (1).jpg" id="267" name="Google Shape;267;p37"/>
          <p:cNvPicPr preferRelativeResize="0"/>
          <p:nvPr/>
        </p:nvPicPr>
        <p:blipFill rotWithShape="1">
          <a:blip r:embed="rId3">
            <a:alphaModFix/>
          </a:blip>
          <a:srcRect b="0" l="0" r="0" t="0"/>
          <a:stretch/>
        </p:blipFill>
        <p:spPr>
          <a:xfrm>
            <a:off x="1632857" y="0"/>
            <a:ext cx="5878286"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73" name="Google Shape;27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74" name="Google Shape;27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8.jpg" id="275" name="Google Shape;275;p38"/>
          <p:cNvPicPr preferRelativeResize="0"/>
          <p:nvPr/>
        </p:nvPicPr>
        <p:blipFill rotWithShape="1">
          <a:blip r:embed="rId3">
            <a:alphaModFix/>
          </a:blip>
          <a:srcRect b="0" l="0" r="0" t="0"/>
          <a:stretch/>
        </p:blipFill>
        <p:spPr>
          <a:xfrm>
            <a:off x="1651000" y="0"/>
            <a:ext cx="58420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1" name="Google Shape;281;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82" name="Google Shape;28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29.jpg" id="283" name="Google Shape;283;p39"/>
          <p:cNvPicPr preferRelativeResize="0"/>
          <p:nvPr/>
        </p:nvPicPr>
        <p:blipFill rotWithShape="1">
          <a:blip r:embed="rId3">
            <a:alphaModFix/>
          </a:blip>
          <a:srcRect b="0" l="0" r="0" t="0"/>
          <a:stretch/>
        </p:blipFill>
        <p:spPr>
          <a:xfrm>
            <a:off x="1648512" y="0"/>
            <a:ext cx="5846975" cy="685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9" name="Google Shape;28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90" name="Google Shape;29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0.jpg" id="291" name="Google Shape;291;p40"/>
          <p:cNvPicPr preferRelativeResize="0"/>
          <p:nvPr/>
        </p:nvPicPr>
        <p:blipFill rotWithShape="1">
          <a:blip r:embed="rId3">
            <a:alphaModFix/>
          </a:blip>
          <a:srcRect b="0" l="0" r="0" t="0"/>
          <a:stretch/>
        </p:blipFill>
        <p:spPr>
          <a:xfrm>
            <a:off x="1641956" y="0"/>
            <a:ext cx="5860087" cy="685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97" name="Google Shape;297;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98" name="Google Shape;29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1.jpg" id="299" name="Google Shape;299;p41"/>
          <p:cNvPicPr preferRelativeResize="0"/>
          <p:nvPr/>
        </p:nvPicPr>
        <p:blipFill rotWithShape="1">
          <a:blip r:embed="rId3">
            <a:alphaModFix/>
          </a:blip>
          <a:srcRect b="0" l="0" r="0" t="0"/>
          <a:stretch/>
        </p:blipFill>
        <p:spPr>
          <a:xfrm>
            <a:off x="1635896" y="0"/>
            <a:ext cx="5872207" cy="6858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5" name="Google Shape;305;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6" name="Google Shape;306;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2.jpg" id="307" name="Google Shape;307;p42"/>
          <p:cNvPicPr preferRelativeResize="0"/>
          <p:nvPr/>
        </p:nvPicPr>
        <p:blipFill rotWithShape="1">
          <a:blip r:embed="rId3">
            <a:alphaModFix/>
          </a:blip>
          <a:srcRect b="0" l="0" r="0" t="0"/>
          <a:stretch/>
        </p:blipFill>
        <p:spPr>
          <a:xfrm>
            <a:off x="1623701" y="0"/>
            <a:ext cx="5896598" cy="685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13" name="Google Shape;313;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14" name="Google Shape;31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3.jpg" id="315" name="Google Shape;315;p43"/>
          <p:cNvPicPr preferRelativeResize="0"/>
          <p:nvPr/>
        </p:nvPicPr>
        <p:blipFill rotWithShape="1">
          <a:blip r:embed="rId3">
            <a:alphaModFix/>
          </a:blip>
          <a:srcRect b="0" l="0" r="0" t="0"/>
          <a:stretch/>
        </p:blipFill>
        <p:spPr>
          <a:xfrm>
            <a:off x="1623701" y="0"/>
            <a:ext cx="5896598"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21" name="Google Shape;321;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22" name="Google Shape;32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4.jpg" id="323" name="Google Shape;323;p44"/>
          <p:cNvPicPr preferRelativeResize="0"/>
          <p:nvPr/>
        </p:nvPicPr>
        <p:blipFill rotWithShape="1">
          <a:blip r:embed="rId3">
            <a:alphaModFix/>
          </a:blip>
          <a:srcRect b="0" l="0" r="0" t="0"/>
          <a:stretch/>
        </p:blipFill>
        <p:spPr>
          <a:xfrm>
            <a:off x="1668920" y="0"/>
            <a:ext cx="5806160" cy="685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29" name="Google Shape;329;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30" name="Google Shape;33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5.jpg" id="331" name="Google Shape;331;p45"/>
          <p:cNvPicPr preferRelativeResize="0"/>
          <p:nvPr/>
        </p:nvPicPr>
        <p:blipFill rotWithShape="1">
          <a:blip r:embed="rId3">
            <a:alphaModFix/>
          </a:blip>
          <a:srcRect b="0" l="0" r="0" t="0"/>
          <a:stretch/>
        </p:blipFill>
        <p:spPr>
          <a:xfrm>
            <a:off x="1648512" y="0"/>
            <a:ext cx="5846975" cy="6858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37" name="Google Shape;337;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38" name="Google Shape;33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6.jpg" id="339" name="Google Shape;339;p46"/>
          <p:cNvPicPr preferRelativeResize="0"/>
          <p:nvPr/>
        </p:nvPicPr>
        <p:blipFill rotWithShape="1">
          <a:blip r:embed="rId3">
            <a:alphaModFix/>
          </a:blip>
          <a:srcRect b="0" l="0" r="0" t="0"/>
          <a:stretch/>
        </p:blipFill>
        <p:spPr>
          <a:xfrm>
            <a:off x="1617565" y="0"/>
            <a:ext cx="5908870" cy="6858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45" name="Google Shape;345;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46" name="Google Shape;34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7.jpg" id="347" name="Google Shape;347;p47"/>
          <p:cNvPicPr preferRelativeResize="0"/>
          <p:nvPr/>
        </p:nvPicPr>
        <p:blipFill rotWithShape="1">
          <a:blip r:embed="rId3">
            <a:alphaModFix/>
          </a:blip>
          <a:srcRect b="0" l="0" r="0" t="0"/>
          <a:stretch/>
        </p:blipFill>
        <p:spPr>
          <a:xfrm>
            <a:off x="1614487" y="0"/>
            <a:ext cx="5915025"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53" name="Google Shape;353;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54" name="Google Shape;35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8.jpg" id="355" name="Google Shape;355;p48"/>
          <p:cNvPicPr preferRelativeResize="0"/>
          <p:nvPr/>
        </p:nvPicPr>
        <p:blipFill rotWithShape="1">
          <a:blip r:embed="rId3">
            <a:alphaModFix/>
          </a:blip>
          <a:srcRect b="0" l="0" r="0" t="0"/>
          <a:stretch/>
        </p:blipFill>
        <p:spPr>
          <a:xfrm>
            <a:off x="0" y="480391"/>
            <a:ext cx="9144000" cy="589721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61" name="Google Shape;361;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62" name="Google Shape;362;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39.jpg" id="363" name="Google Shape;363;p49"/>
          <p:cNvPicPr preferRelativeResize="0"/>
          <p:nvPr/>
        </p:nvPicPr>
        <p:blipFill rotWithShape="1">
          <a:blip r:embed="rId3">
            <a:alphaModFix/>
          </a:blip>
          <a:srcRect b="0" l="0" r="0" t="0"/>
          <a:stretch/>
        </p:blipFill>
        <p:spPr>
          <a:xfrm>
            <a:off x="0" y="806174"/>
            <a:ext cx="9144000" cy="524565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69" name="Google Shape;369;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70" name="Google Shape;37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40.jpg" id="371" name="Google Shape;371;p50"/>
          <p:cNvPicPr preferRelativeResize="0"/>
          <p:nvPr/>
        </p:nvPicPr>
        <p:blipFill rotWithShape="1">
          <a:blip r:embed="rId3">
            <a:alphaModFix/>
          </a:blip>
          <a:srcRect b="0" l="0" r="0" t="0"/>
          <a:stretch/>
        </p:blipFill>
        <p:spPr>
          <a:xfrm>
            <a:off x="0" y="956048"/>
            <a:ext cx="9144000" cy="483704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To review some Monitoring Requirements and standards</a:t>
            </a:r>
            <a:endParaRPr/>
          </a:p>
        </p:txBody>
      </p:sp>
      <p:sp>
        <p:nvSpPr>
          <p:cNvPr id="377" name="Google Shape;377;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For giardia and cryptosporidium and enteric viruses if none are detected for two years, the advanced water treatment facility may transition to biannual testing</a:t>
            </a:r>
            <a:endParaRPr/>
          </a:p>
          <a:p>
            <a:pPr indent="-342900" lvl="0" marL="342900" rtl="0" algn="l">
              <a:spcBef>
                <a:spcPts val="640"/>
              </a:spcBef>
              <a:spcAft>
                <a:spcPts val="0"/>
              </a:spcAft>
              <a:buClr>
                <a:schemeClr val="dk1"/>
              </a:buClr>
              <a:buSzPts val="3200"/>
              <a:buChar char="•"/>
            </a:pPr>
            <a:r>
              <a:rPr lang="en-US"/>
              <a:t>In addition the advanced treatment water facility shall conduct semi annual sampling of water entering and exiting the advanced water treatment facility for toxic pollutants</a:t>
            </a:r>
            <a:endParaRPr/>
          </a:p>
        </p:txBody>
      </p:sp>
      <p:sp>
        <p:nvSpPr>
          <p:cNvPr id="378" name="Google Shape;37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Pilot testing is required before implementation of an operational AWTF/ASR Well and pilot testing will use reclaimed water, with </a:t>
            </a:r>
            <a:r>
              <a:rPr i="1" lang="en-US"/>
              <a:t>a minimum of one year of data prior to implementation.</a:t>
            </a:r>
            <a:endParaRPr i="1"/>
          </a:p>
          <a:p>
            <a:pPr indent="-342900" lvl="0" marL="342900" rtl="0" algn="l">
              <a:spcBef>
                <a:spcPts val="448"/>
              </a:spcBef>
              <a:spcAft>
                <a:spcPts val="0"/>
              </a:spcAft>
              <a:buClr>
                <a:schemeClr val="dk1"/>
              </a:buClr>
              <a:buSzPct val="100000"/>
              <a:buChar char="•"/>
            </a:pPr>
            <a:r>
              <a:rPr lang="en-US"/>
              <a:t>During testing, projects have to comply with system size requirements, full treatment and disinfection requirements, pathogen reduction requirements, distance requirements, hydraulic loading rate requirements, public notification requirements, and cleared with an expert engineer. It has to be proven that injection is done into a confined aquifer and there is no potable water supply well within 3,500 ft of ASR Well. </a:t>
            </a:r>
            <a:endParaRPr/>
          </a:p>
          <a:p>
            <a:pPr indent="-342900" lvl="0" marL="342900" rtl="0" algn="l">
              <a:spcBef>
                <a:spcPts val="448"/>
              </a:spcBef>
              <a:spcAft>
                <a:spcPts val="0"/>
              </a:spcAft>
              <a:buClr>
                <a:schemeClr val="dk1"/>
              </a:buClr>
              <a:buSzPct val="100000"/>
              <a:buChar char="•"/>
            </a:pPr>
            <a:r>
              <a:rPr lang="en-US"/>
              <a:t>Cyber security protocols are required for ASR Use consideration.</a:t>
            </a:r>
            <a:endParaRPr/>
          </a:p>
          <a:p>
            <a:pPr indent="-342900" lvl="0" marL="342900" rtl="0" algn="l">
              <a:spcBef>
                <a:spcPts val="448"/>
              </a:spcBef>
              <a:spcAft>
                <a:spcPts val="0"/>
              </a:spcAft>
              <a:buClr>
                <a:schemeClr val="dk1"/>
              </a:buClr>
              <a:buSzPct val="100000"/>
              <a:buChar char="•"/>
            </a:pPr>
            <a:r>
              <a:rPr lang="en-US"/>
              <a:t>Cross connection controls and operation distances are considered.</a:t>
            </a:r>
            <a:endParaRPr/>
          </a:p>
          <a:p>
            <a:pPr indent="-342900" lvl="0" marL="342900" rtl="0" algn="l">
              <a:spcBef>
                <a:spcPts val="448"/>
              </a:spcBef>
              <a:spcAft>
                <a:spcPts val="0"/>
              </a:spcAft>
              <a:buClr>
                <a:schemeClr val="dk1"/>
              </a:buClr>
              <a:buSzPct val="100000"/>
              <a:buChar char="•"/>
            </a:pPr>
            <a:r>
              <a:rPr lang="en-US"/>
              <a:t>Requirements include that the treatment train include multiple independent treatment barriers for control of organic compounds and pathogens.</a:t>
            </a:r>
            <a:endParaRPr/>
          </a:p>
        </p:txBody>
      </p:sp>
      <p:sp>
        <p:nvSpPr>
          <p:cNvPr id="384" name="Google Shape;384;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90" name="Google Shape;390;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91" name="Google Shape;39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rchamberlain\Downloads\IMG_5869.jpg" id="392" name="Google Shape;392;p53"/>
          <p:cNvPicPr preferRelativeResize="0"/>
          <p:nvPr/>
        </p:nvPicPr>
        <p:blipFill rotWithShape="1">
          <a:blip r:embed="rId3">
            <a:alphaModFix/>
          </a:blip>
          <a:srcRect b="0" l="0" r="0" t="0"/>
          <a:stretch/>
        </p:blipFill>
        <p:spPr>
          <a:xfrm>
            <a:off x="2482808" y="0"/>
            <a:ext cx="4178384" cy="6858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Regarding Operational Monitoring</a:t>
            </a:r>
            <a:endParaRPr/>
          </a:p>
        </p:txBody>
      </p:sp>
      <p:sp>
        <p:nvSpPr>
          <p:cNvPr id="398" name="Google Shape;398;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During full scale operation, oxidation processes are mandated to be continuously monitored</a:t>
            </a:r>
            <a:endParaRPr/>
          </a:p>
          <a:p>
            <a:pPr indent="-342900" lvl="0" marL="342900" rtl="0" algn="l">
              <a:spcBef>
                <a:spcPts val="640"/>
              </a:spcBef>
              <a:spcAft>
                <a:spcPts val="0"/>
              </a:spcAft>
              <a:buClr>
                <a:schemeClr val="dk1"/>
              </a:buClr>
              <a:buSzPts val="3200"/>
              <a:buChar char="•"/>
            </a:pPr>
            <a:r>
              <a:rPr lang="en-US"/>
              <a:t>Requirement exists of achieving optimal removal expected chemical emissions from local industry and to have associated alarms if the process is not operating as designed</a:t>
            </a:r>
            <a:endParaRPr/>
          </a:p>
        </p:txBody>
      </p:sp>
      <p:sp>
        <p:nvSpPr>
          <p:cNvPr id="399" name="Google Shape;399;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Regarding the project being cleared with an expert engineer</a:t>
            </a:r>
            <a:endParaRPr/>
          </a:p>
        </p:txBody>
      </p:sp>
      <p:sp>
        <p:nvSpPr>
          <p:cNvPr id="405" name="Google Shape;405;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An "Engineering Report" is necessary to support a permit application for entering a pilot testing phase and the engineering report is colossal. </a:t>
            </a:r>
            <a:endParaRPr/>
          </a:p>
        </p:txBody>
      </p:sp>
      <p:sp>
        <p:nvSpPr>
          <p:cNvPr id="406" name="Google Shape;406;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lang="en-US" sz="2400"/>
              <a:t>Some</a:t>
            </a:r>
            <a:r>
              <a:rPr lang="en-US" sz="2400"/>
              <a:t> of what an Engineering Report Includes. It includes..</a:t>
            </a:r>
            <a:endParaRPr sz="2400"/>
          </a:p>
        </p:txBody>
      </p:sp>
      <p:sp>
        <p:nvSpPr>
          <p:cNvPr id="412" name="Google Shape;412;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lang="en-US"/>
              <a:t>The Cost to construct, a description of existing PWS (or public water system) and wastewater facility and discussion of the impact the project will have on existing facilities.</a:t>
            </a:r>
            <a:endParaRPr/>
          </a:p>
          <a:p>
            <a:pPr indent="-342900" lvl="0" marL="342900" rtl="0" algn="l">
              <a:spcBef>
                <a:spcPts val="352"/>
              </a:spcBef>
              <a:spcAft>
                <a:spcPts val="0"/>
              </a:spcAft>
              <a:buClr>
                <a:schemeClr val="dk1"/>
              </a:buClr>
              <a:buSzPct val="100000"/>
              <a:buChar char="•"/>
            </a:pPr>
            <a:r>
              <a:rPr lang="en-US"/>
              <a:t>Includes the Name and location of all water sources entering the ATWF And the design and actual water flows.</a:t>
            </a:r>
            <a:endParaRPr/>
          </a:p>
          <a:p>
            <a:pPr indent="-342900" lvl="0" marL="342900" rtl="0" algn="l">
              <a:spcBef>
                <a:spcPts val="352"/>
              </a:spcBef>
              <a:spcAft>
                <a:spcPts val="0"/>
              </a:spcAft>
              <a:buClr>
                <a:schemeClr val="dk1"/>
              </a:buClr>
              <a:buSzPct val="100000"/>
              <a:buChar char="•"/>
            </a:pPr>
            <a:r>
              <a:rPr lang="en-US"/>
              <a:t>Includes the Design capacity of facilities involved, existing type of treatment provided at each, number and capacity of existing finished water pumps.</a:t>
            </a:r>
            <a:endParaRPr/>
          </a:p>
          <a:p>
            <a:pPr indent="-342900" lvl="0" marL="342900" rtl="0" algn="l">
              <a:spcBef>
                <a:spcPts val="352"/>
              </a:spcBef>
              <a:spcAft>
                <a:spcPts val="0"/>
              </a:spcAft>
              <a:buClr>
                <a:schemeClr val="dk1"/>
              </a:buClr>
              <a:buSzPct val="100000"/>
              <a:buChar char="•"/>
            </a:pPr>
            <a:r>
              <a:rPr lang="en-US"/>
              <a:t>The Name, location, type, and useful capacity of existing off-spec wastewater facilities and discussion of the impact the project will have on existing facilities. Off-spec is infrastructure that exists but does not currently meet standards.</a:t>
            </a:r>
            <a:endParaRPr/>
          </a:p>
          <a:p>
            <a:pPr indent="-342900" lvl="0" marL="342900" rtl="0" algn="l">
              <a:spcBef>
                <a:spcPts val="352"/>
              </a:spcBef>
              <a:spcAft>
                <a:spcPts val="0"/>
              </a:spcAft>
              <a:buClr>
                <a:schemeClr val="dk1"/>
              </a:buClr>
              <a:buSzPct val="100000"/>
              <a:buChar char="•"/>
            </a:pPr>
            <a:r>
              <a:rPr lang="en-US"/>
              <a:t>Engineering report includes the Name, location, type and useful capacity of existing off-spec and finished water storage ponds and tanks.</a:t>
            </a:r>
            <a:endParaRPr/>
          </a:p>
          <a:p>
            <a:pPr indent="-342900" lvl="0" marL="342900" rtl="0" algn="l">
              <a:spcBef>
                <a:spcPts val="352"/>
              </a:spcBef>
              <a:spcAft>
                <a:spcPts val="0"/>
              </a:spcAft>
              <a:buClr>
                <a:schemeClr val="dk1"/>
              </a:buClr>
              <a:buSzPct val="100000"/>
              <a:buChar char="•"/>
            </a:pPr>
            <a:r>
              <a:rPr lang="en-US"/>
              <a:t>Requires Documentation that existing potable water wells meet construction requirements.</a:t>
            </a:r>
            <a:endParaRPr/>
          </a:p>
          <a:p>
            <a:pPr indent="-342900" lvl="0" marL="342900" rtl="0" algn="l">
              <a:spcBef>
                <a:spcPts val="352"/>
              </a:spcBef>
              <a:spcAft>
                <a:spcPts val="0"/>
              </a:spcAft>
              <a:buClr>
                <a:schemeClr val="dk1"/>
              </a:buClr>
              <a:buSzPct val="100000"/>
              <a:buChar char="•"/>
            </a:pPr>
            <a:r>
              <a:rPr lang="en-US"/>
              <a:t>Includes a Discussion of sanitary hazards within 500 feet of potable water and ASR Wells or those located less than 500ft upstream of surface water intakes.</a:t>
            </a:r>
            <a:endParaRPr/>
          </a:p>
          <a:p>
            <a:pPr indent="-342900" lvl="0" marL="342900" rtl="0" algn="l">
              <a:spcBef>
                <a:spcPts val="352"/>
              </a:spcBef>
              <a:spcAft>
                <a:spcPts val="0"/>
              </a:spcAft>
              <a:buClr>
                <a:schemeClr val="dk1"/>
              </a:buClr>
              <a:buSzPct val="100000"/>
              <a:buChar char="•"/>
            </a:pPr>
            <a:r>
              <a:rPr lang="en-US"/>
              <a:t>Includes A description of surface water intake structures, impoundments and reservoirs.</a:t>
            </a:r>
            <a:endParaRPr/>
          </a:p>
        </p:txBody>
      </p:sp>
      <p:sp>
        <p:nvSpPr>
          <p:cNvPr id="413" name="Google Shape;41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58140" lvl="0" marL="342900" rtl="0" algn="l">
              <a:spcBef>
                <a:spcPts val="0"/>
              </a:spcBef>
              <a:spcAft>
                <a:spcPts val="0"/>
              </a:spcAft>
              <a:buClr>
                <a:schemeClr val="dk1"/>
              </a:buClr>
              <a:buSzPct val="100000"/>
              <a:buChar char="•"/>
            </a:pPr>
            <a:r>
              <a:rPr lang="en-US"/>
              <a:t>Report includes </a:t>
            </a:r>
            <a:r>
              <a:rPr lang="en-US"/>
              <a:t>assessment </a:t>
            </a:r>
            <a:r>
              <a:rPr lang="en-US"/>
              <a:t>of effects from indirect potable reuse on ground water and surface water levels, ground and surface water quality and uses of property in the area</a:t>
            </a:r>
            <a:endParaRPr/>
          </a:p>
          <a:p>
            <a:pPr indent="-358140" lvl="0" marL="342900" rtl="0" algn="l">
              <a:spcBef>
                <a:spcPts val="496"/>
              </a:spcBef>
              <a:spcAft>
                <a:spcPts val="0"/>
              </a:spcAft>
              <a:buClr>
                <a:schemeClr val="dk1"/>
              </a:buClr>
              <a:buSzPct val="100000"/>
              <a:buChar char="•"/>
            </a:pPr>
            <a:r>
              <a:rPr lang="en-US"/>
              <a:t>Includes </a:t>
            </a:r>
            <a:r>
              <a:rPr lang="en-US"/>
              <a:t>documentation </a:t>
            </a:r>
            <a:r>
              <a:rPr lang="en-US"/>
              <a:t>of written notice to the public water supply utilities and the appropriate county health department for indirect potable reuse</a:t>
            </a:r>
            <a:endParaRPr/>
          </a:p>
          <a:p>
            <a:pPr indent="-358140" lvl="0" marL="342900" rtl="0" algn="l">
              <a:spcBef>
                <a:spcPts val="496"/>
              </a:spcBef>
              <a:spcAft>
                <a:spcPts val="0"/>
              </a:spcAft>
              <a:buClr>
                <a:schemeClr val="dk1"/>
              </a:buClr>
              <a:buSzPct val="100000"/>
              <a:buChar char="•"/>
            </a:pPr>
            <a:r>
              <a:rPr lang="en-US"/>
              <a:t>Includes report of </a:t>
            </a:r>
            <a:r>
              <a:rPr lang="en-US"/>
              <a:t>total </a:t>
            </a:r>
            <a:r>
              <a:rPr lang="en-US"/>
              <a:t>capacity of all water sources and treatment facilities connected to an ATWF</a:t>
            </a:r>
            <a:endParaRPr/>
          </a:p>
          <a:p>
            <a:pPr indent="-358140" lvl="0" marL="342900" rtl="0" algn="l">
              <a:spcBef>
                <a:spcPts val="496"/>
              </a:spcBef>
              <a:spcAft>
                <a:spcPts val="0"/>
              </a:spcAft>
              <a:buClr>
                <a:schemeClr val="dk1"/>
              </a:buClr>
              <a:buSzPct val="100000"/>
              <a:buChar char="•"/>
            </a:pPr>
            <a:r>
              <a:rPr lang="en-US"/>
              <a:t>The findings of source water evaluations</a:t>
            </a:r>
            <a:endParaRPr/>
          </a:p>
          <a:p>
            <a:pPr indent="-358140" lvl="0" marL="342900" rtl="0" algn="l">
              <a:spcBef>
                <a:spcPts val="496"/>
              </a:spcBef>
              <a:spcAft>
                <a:spcPts val="0"/>
              </a:spcAft>
              <a:buClr>
                <a:schemeClr val="dk1"/>
              </a:buClr>
              <a:buSzPct val="100000"/>
              <a:buChar char="•"/>
            </a:pPr>
            <a:r>
              <a:rPr lang="en-US"/>
              <a:t>And a </a:t>
            </a:r>
            <a:r>
              <a:rPr lang="en-US"/>
              <a:t>discussion </a:t>
            </a:r>
            <a:r>
              <a:rPr lang="en-US"/>
              <a:t>of applicable treatment and disinfection technique requirements</a:t>
            </a:r>
            <a:endParaRPr/>
          </a:p>
          <a:p>
            <a:pPr indent="-358140" lvl="0" marL="342900" rtl="0" algn="l">
              <a:spcBef>
                <a:spcPts val="496"/>
              </a:spcBef>
              <a:spcAft>
                <a:spcPts val="0"/>
              </a:spcAft>
              <a:buClr>
                <a:schemeClr val="dk1"/>
              </a:buClr>
              <a:buSzPct val="100000"/>
              <a:buChar char="•"/>
            </a:pPr>
            <a:r>
              <a:rPr lang="en-US"/>
              <a:t>It </a:t>
            </a:r>
            <a:r>
              <a:rPr lang="en-US"/>
              <a:t>includes </a:t>
            </a:r>
            <a:r>
              <a:rPr lang="en-US"/>
              <a:t>a Hazard analysis</a:t>
            </a:r>
            <a:endParaRPr/>
          </a:p>
        </p:txBody>
      </p:sp>
      <p:sp>
        <p:nvSpPr>
          <p:cNvPr id="419" name="Google Shape;41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t>Report includes a </a:t>
            </a:r>
            <a:r>
              <a:rPr lang="en-US" sz="2000"/>
              <a:t>discussion </a:t>
            </a:r>
            <a:r>
              <a:rPr lang="en-US" sz="2000"/>
              <a:t>of critical control points, operational parameters and monitoring points, as well as operation and control strategies</a:t>
            </a:r>
            <a:endParaRPr/>
          </a:p>
          <a:p>
            <a:pPr indent="-342900" lvl="0" marL="342900" rtl="0" algn="l">
              <a:spcBef>
                <a:spcPts val="400"/>
              </a:spcBef>
              <a:spcAft>
                <a:spcPts val="0"/>
              </a:spcAft>
              <a:buClr>
                <a:schemeClr val="dk1"/>
              </a:buClr>
              <a:buSzPts val="2000"/>
              <a:buChar char="•"/>
            </a:pPr>
            <a:r>
              <a:rPr lang="en-US" sz="2000"/>
              <a:t>An </a:t>
            </a:r>
            <a:r>
              <a:rPr lang="en-US" sz="2000"/>
              <a:t>evaluation </a:t>
            </a:r>
            <a:r>
              <a:rPr lang="en-US" sz="2000"/>
              <a:t>of adequacy of ATWF to meet standards given the quality of raw water from all water sources for the plant</a:t>
            </a:r>
            <a:endParaRPr/>
          </a:p>
          <a:p>
            <a:pPr indent="-342900" lvl="0" marL="342900" rtl="0" algn="l">
              <a:spcBef>
                <a:spcPts val="400"/>
              </a:spcBef>
              <a:spcAft>
                <a:spcPts val="0"/>
              </a:spcAft>
              <a:buClr>
                <a:schemeClr val="dk1"/>
              </a:buClr>
              <a:buSzPts val="2000"/>
              <a:buChar char="•"/>
            </a:pPr>
            <a:r>
              <a:rPr lang="en-US" sz="2000"/>
              <a:t>A design for daily operations</a:t>
            </a:r>
            <a:endParaRPr/>
          </a:p>
          <a:p>
            <a:pPr indent="-342900" lvl="0" marL="342900" rtl="0" algn="l">
              <a:spcBef>
                <a:spcPts val="400"/>
              </a:spcBef>
              <a:spcAft>
                <a:spcPts val="0"/>
              </a:spcAft>
              <a:buClr>
                <a:schemeClr val="dk1"/>
              </a:buClr>
              <a:buSzPts val="2000"/>
              <a:buChar char="•"/>
            </a:pPr>
            <a:r>
              <a:rPr lang="en-US" sz="2000"/>
              <a:t>A flow diagram showing all ATWF operations and processes including residuals handling, chemical application points, water pumping facilities, bypass arrangements and recycle flows</a:t>
            </a:r>
            <a:endParaRPr/>
          </a:p>
          <a:p>
            <a:pPr indent="-342900" lvl="0" marL="342900" rtl="0" algn="l">
              <a:spcBef>
                <a:spcPts val="400"/>
              </a:spcBef>
              <a:spcAft>
                <a:spcPts val="0"/>
              </a:spcAft>
              <a:buClr>
                <a:schemeClr val="dk1"/>
              </a:buClr>
              <a:buSzPts val="2000"/>
              <a:buChar char="•"/>
            </a:pPr>
            <a:r>
              <a:rPr lang="en-US" sz="2000"/>
              <a:t>The blending ratio of volume of advanced treated water received by the public water system to the volume of other source waters received at the public water system</a:t>
            </a:r>
            <a:endParaRPr/>
          </a:p>
        </p:txBody>
      </p:sp>
      <p:sp>
        <p:nvSpPr>
          <p:cNvPr id="425" name="Google Shape;425;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design of the dose for water treatment chemicals</a:t>
            </a:r>
            <a:endParaRPr/>
          </a:p>
          <a:p>
            <a:pPr indent="-342900" lvl="0" marL="342900" rtl="0" algn="l">
              <a:spcBef>
                <a:spcPts val="640"/>
              </a:spcBef>
              <a:spcAft>
                <a:spcPts val="0"/>
              </a:spcAft>
              <a:buClr>
                <a:schemeClr val="dk1"/>
              </a:buClr>
              <a:buSzPts val="3200"/>
              <a:buChar char="•"/>
            </a:pPr>
            <a:r>
              <a:rPr lang="en-US"/>
              <a:t>Controls for management of potential chemical peaks for chemical constituents that have the potential to pass through the ATWF</a:t>
            </a:r>
            <a:endParaRPr/>
          </a:p>
          <a:p>
            <a:pPr indent="-342900" lvl="0" marL="342900" rtl="0" algn="l">
              <a:spcBef>
                <a:spcPts val="640"/>
              </a:spcBef>
              <a:spcAft>
                <a:spcPts val="0"/>
              </a:spcAft>
              <a:buClr>
                <a:schemeClr val="dk1"/>
              </a:buClr>
              <a:buSzPts val="3200"/>
              <a:buChar char="•"/>
            </a:pPr>
            <a:r>
              <a:rPr lang="en-US"/>
              <a:t>An </a:t>
            </a:r>
            <a:r>
              <a:rPr lang="en-US"/>
              <a:t>evaluation </a:t>
            </a:r>
            <a:r>
              <a:rPr lang="en-US"/>
              <a:t>of types, quantities, characteristics, and disposal method of residuals generated by the ATWF</a:t>
            </a:r>
            <a:endParaRPr/>
          </a:p>
        </p:txBody>
      </p:sp>
      <p:sp>
        <p:nvSpPr>
          <p:cNvPr id="431" name="Google Shape;431;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10000"/>
          </a:bodyPr>
          <a:lstStyle/>
          <a:p>
            <a:pPr indent="-342900" lvl="0" marL="342900" rtl="0" algn="l">
              <a:spcBef>
                <a:spcPts val="0"/>
              </a:spcBef>
              <a:spcAft>
                <a:spcPts val="0"/>
              </a:spcAft>
              <a:buClr>
                <a:schemeClr val="dk1"/>
              </a:buClr>
              <a:buSzPct val="100000"/>
              <a:buChar char="•"/>
            </a:pPr>
            <a:r>
              <a:rPr lang="en-US"/>
              <a:t>Report includes the sizes, capacities, retention times, loading rates, schematic diagrams and other design parameters and details to demonstrate the ATWF (Including chemical application, residuals handling and water pumping) will comply with requirements including proper air gaps between drains, overflows and sanitary or storm sewers</a:t>
            </a:r>
            <a:endParaRPr/>
          </a:p>
          <a:p>
            <a:pPr indent="-342900" lvl="0" marL="342900" rtl="0" algn="l">
              <a:spcBef>
                <a:spcPts val="496"/>
              </a:spcBef>
              <a:spcAft>
                <a:spcPts val="0"/>
              </a:spcAft>
              <a:buClr>
                <a:schemeClr val="dk1"/>
              </a:buClr>
              <a:buSzPct val="100000"/>
              <a:buChar char="•"/>
            </a:pPr>
            <a:r>
              <a:rPr lang="en-US"/>
              <a:t>An assurance of compliance with odor control requirements</a:t>
            </a:r>
            <a:endParaRPr/>
          </a:p>
          <a:p>
            <a:pPr indent="-342900" lvl="0" marL="342900" rtl="0" algn="l">
              <a:spcBef>
                <a:spcPts val="496"/>
              </a:spcBef>
              <a:spcAft>
                <a:spcPts val="0"/>
              </a:spcAft>
              <a:buClr>
                <a:schemeClr val="dk1"/>
              </a:buClr>
              <a:buSzPct val="100000"/>
              <a:buChar char="•"/>
            </a:pPr>
            <a:r>
              <a:rPr lang="en-US"/>
              <a:t>Assurance that storage tank systems meet performance standards</a:t>
            </a:r>
            <a:endParaRPr/>
          </a:p>
          <a:p>
            <a:pPr indent="-342900" lvl="0" marL="342900" rtl="0" algn="l">
              <a:spcBef>
                <a:spcPts val="496"/>
              </a:spcBef>
              <a:spcAft>
                <a:spcPts val="0"/>
              </a:spcAft>
              <a:buClr>
                <a:schemeClr val="dk1"/>
              </a:buClr>
              <a:buSzPct val="100000"/>
              <a:buChar char="•"/>
            </a:pPr>
            <a:r>
              <a:rPr lang="en-US"/>
              <a:t>Assurance optimal housing and safety and protective equipment for new or altered chemical application facilities</a:t>
            </a:r>
            <a:endParaRPr/>
          </a:p>
        </p:txBody>
      </p:sp>
      <p:sp>
        <p:nvSpPr>
          <p:cNvPr id="437" name="Google Shape;437;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Hydraulic analysis for the size of new or altered pipes that convey reclaimed water.</a:t>
            </a:r>
            <a:endParaRPr/>
          </a:p>
          <a:p>
            <a:pPr indent="-342900" lvl="0" marL="342900" rtl="0" algn="l">
              <a:spcBef>
                <a:spcPts val="544"/>
              </a:spcBef>
              <a:spcAft>
                <a:spcPts val="0"/>
              </a:spcAft>
              <a:buClr>
                <a:schemeClr val="dk1"/>
              </a:buClr>
              <a:buSzPct val="100000"/>
              <a:buChar char="•"/>
            </a:pPr>
            <a:r>
              <a:rPr lang="en-US"/>
              <a:t>A Site plan including locations of meters, valves, critical control points, monitoring points and blow-offs, interconnections between potable reuse system components, dimensions and elevations of structures.</a:t>
            </a:r>
            <a:endParaRPr/>
          </a:p>
          <a:p>
            <a:pPr indent="-342900" lvl="0" marL="342900" rtl="0" algn="l">
              <a:spcBef>
                <a:spcPts val="544"/>
              </a:spcBef>
              <a:spcAft>
                <a:spcPts val="0"/>
              </a:spcAft>
              <a:buClr>
                <a:schemeClr val="dk1"/>
              </a:buClr>
              <a:buSzPct val="100000"/>
              <a:buChar char="•"/>
            </a:pPr>
            <a:r>
              <a:rPr lang="en-US"/>
              <a:t>Appropriate groundwater elevations in relation to subsurface structures.</a:t>
            </a:r>
            <a:endParaRPr/>
          </a:p>
          <a:p>
            <a:pPr indent="-342900" lvl="0" marL="342900" rtl="0" algn="l">
              <a:spcBef>
                <a:spcPts val="544"/>
              </a:spcBef>
              <a:spcAft>
                <a:spcPts val="0"/>
              </a:spcAft>
              <a:buClr>
                <a:schemeClr val="dk1"/>
              </a:buClr>
              <a:buSzPct val="100000"/>
              <a:buChar char="•"/>
            </a:pPr>
            <a:r>
              <a:rPr lang="en-US"/>
              <a:t>Documentation pipes and appurtenances (or connections) provide strength, durability, reliability and public health protection.</a:t>
            </a:r>
            <a:endParaRPr/>
          </a:p>
        </p:txBody>
      </p:sp>
      <p:sp>
        <p:nvSpPr>
          <p:cNvPr id="443" name="Google Shape;443;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10000"/>
          </a:bodyPr>
          <a:lstStyle/>
          <a:p>
            <a:pPr indent="-342900" lvl="0" marL="342900" rtl="0" algn="l">
              <a:spcBef>
                <a:spcPts val="0"/>
              </a:spcBef>
              <a:spcAft>
                <a:spcPts val="0"/>
              </a:spcAft>
              <a:buClr>
                <a:schemeClr val="dk1"/>
              </a:buClr>
              <a:buSzPct val="100000"/>
              <a:buChar char="•"/>
            </a:pPr>
            <a:r>
              <a:rPr lang="en-US"/>
              <a:t>Of course there is a lead use prohibition.</a:t>
            </a:r>
            <a:endParaRPr/>
          </a:p>
          <a:p>
            <a:pPr indent="-342900" lvl="0" marL="342900" rtl="0" algn="l">
              <a:spcBef>
                <a:spcPts val="496"/>
              </a:spcBef>
              <a:spcAft>
                <a:spcPts val="0"/>
              </a:spcAft>
              <a:buClr>
                <a:schemeClr val="dk1"/>
              </a:buClr>
              <a:buSzPct val="100000"/>
              <a:buChar char="•"/>
            </a:pPr>
            <a:r>
              <a:rPr lang="en-US"/>
              <a:t>Mandatory color coding of above ground piping associated with potable reuse system.</a:t>
            </a:r>
            <a:endParaRPr/>
          </a:p>
          <a:p>
            <a:pPr indent="-342900" lvl="0" marL="342900" rtl="0" algn="l">
              <a:spcBef>
                <a:spcPts val="496"/>
              </a:spcBef>
              <a:spcAft>
                <a:spcPts val="0"/>
              </a:spcAft>
              <a:buClr>
                <a:schemeClr val="dk1"/>
              </a:buClr>
              <a:buSzPct val="100000"/>
              <a:buChar char="•"/>
            </a:pPr>
            <a:r>
              <a:rPr lang="en-US"/>
              <a:t>A </a:t>
            </a:r>
            <a:r>
              <a:rPr lang="en-US"/>
              <a:t>description </a:t>
            </a:r>
            <a:r>
              <a:rPr lang="en-US"/>
              <a:t>of electrical systems and provisions for standby power.</a:t>
            </a:r>
            <a:endParaRPr/>
          </a:p>
          <a:p>
            <a:pPr indent="-342900" lvl="0" marL="342900" rtl="0" algn="l">
              <a:spcBef>
                <a:spcPts val="496"/>
              </a:spcBef>
              <a:spcAft>
                <a:spcPts val="0"/>
              </a:spcAft>
              <a:buClr>
                <a:schemeClr val="dk1"/>
              </a:buClr>
              <a:buSzPct val="100000"/>
              <a:buChar char="•"/>
            </a:pPr>
            <a:r>
              <a:rPr lang="en-US"/>
              <a:t>Description of operation and control strategies and instrumentation and control systems including monitoring or alarm systems for pumping and storage facilities.</a:t>
            </a:r>
            <a:endParaRPr/>
          </a:p>
          <a:p>
            <a:pPr indent="-342900" lvl="0" marL="342900" rtl="0" algn="l">
              <a:spcBef>
                <a:spcPts val="496"/>
              </a:spcBef>
              <a:spcAft>
                <a:spcPts val="0"/>
              </a:spcAft>
              <a:buClr>
                <a:schemeClr val="dk1"/>
              </a:buClr>
              <a:buSzPct val="100000"/>
              <a:buChar char="•"/>
            </a:pPr>
            <a:r>
              <a:rPr lang="en-US"/>
              <a:t>Introduction of reclaimed water to a drinking water treatment facility must have affirmative demonstration that the water meets the requirements of public health protection equivalent in advanced waste treatment.</a:t>
            </a:r>
            <a:endParaRPr/>
          </a:p>
        </p:txBody>
      </p:sp>
      <p:sp>
        <p:nvSpPr>
          <p:cNvPr id="449" name="Google Shape;449;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Calibri"/>
              <a:buNone/>
            </a:pPr>
            <a:r>
              <a:rPr lang="en-US" sz="4800"/>
              <a:t> National Context</a:t>
            </a:r>
            <a:endParaRPr sz="4800"/>
          </a:p>
        </p:txBody>
      </p:sp>
      <p:sp>
        <p:nvSpPr>
          <p:cNvPr id="455" name="Google Shape;455;p6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There have been 390 projects announced nationwide primarily in the West and Southeast since 2020 for re-use blackwater.</a:t>
            </a:r>
            <a:endParaRPr/>
          </a:p>
          <a:p>
            <a:pPr indent="-342900" lvl="0" marL="342900" rtl="0" algn="l">
              <a:spcBef>
                <a:spcPts val="592"/>
              </a:spcBef>
              <a:spcAft>
                <a:spcPts val="0"/>
              </a:spcAft>
              <a:buSzPct val="100000"/>
              <a:buChar char="•"/>
            </a:pPr>
            <a:r>
              <a:rPr lang="en-US"/>
              <a:t>Currently there are 70 ASR Wells using advanced treated blackwater nationwide.</a:t>
            </a:r>
            <a:endParaRPr/>
          </a:p>
          <a:p>
            <a:pPr indent="-342900" lvl="0" marL="342900" rtl="0" algn="l">
              <a:spcBef>
                <a:spcPts val="592"/>
              </a:spcBef>
              <a:spcAft>
                <a:spcPts val="0"/>
              </a:spcAft>
              <a:buClr>
                <a:schemeClr val="dk1"/>
              </a:buClr>
              <a:buSzPct val="100000"/>
              <a:buChar char="•"/>
            </a:pPr>
            <a:r>
              <a:rPr lang="en-US"/>
              <a:t>There is 47 billion dollars in planned spending through 2035 nationwide for these projects.</a:t>
            </a:r>
            <a:endParaRPr/>
          </a:p>
          <a:p>
            <a:pPr indent="-342900" lvl="0" marL="342900" rtl="0" algn="l">
              <a:spcBef>
                <a:spcPts val="592"/>
              </a:spcBef>
              <a:spcAft>
                <a:spcPts val="0"/>
              </a:spcAft>
              <a:buClr>
                <a:schemeClr val="dk1"/>
              </a:buClr>
              <a:buSzPct val="100000"/>
              <a:buChar char="•"/>
            </a:pPr>
            <a:r>
              <a:rPr lang="en-US"/>
              <a:t>In 2016 FL had the most installed re-use capacity of any state, but since has been over-taken, by states like AZ where re-use blackwater is common.</a:t>
            </a:r>
            <a:endParaRPr/>
          </a:p>
        </p:txBody>
      </p:sp>
      <p:sp>
        <p:nvSpPr>
          <p:cNvPr id="456" name="Google Shape;456;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Finally</a:t>
            </a:r>
            <a:endParaRPr/>
          </a:p>
        </p:txBody>
      </p:sp>
      <p:sp>
        <p:nvSpPr>
          <p:cNvPr id="462" name="Google Shape;462;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400"/>
              </a:spcBef>
              <a:spcAft>
                <a:spcPts val="0"/>
              </a:spcAft>
              <a:buNone/>
            </a:pPr>
            <a:r>
              <a:t/>
            </a:r>
            <a:endParaRPr/>
          </a:p>
          <a:p>
            <a:pPr indent="-419100" lvl="0" marL="342900" rtl="0" algn="l">
              <a:spcBef>
                <a:spcPts val="400"/>
              </a:spcBef>
              <a:spcAft>
                <a:spcPts val="0"/>
              </a:spcAft>
              <a:buClr>
                <a:schemeClr val="dk1"/>
              </a:buClr>
              <a:buSzPts val="3200"/>
              <a:buChar char="•"/>
            </a:pPr>
            <a:r>
              <a:rPr lang="en-US"/>
              <a:t>The question is not whether the phrase ‘toilet-to-tap’ sounds alarming (it </a:t>
            </a:r>
            <a:r>
              <a:rPr lang="en-US"/>
              <a:t>does), </a:t>
            </a:r>
            <a:r>
              <a:rPr lang="en-US"/>
              <a:t>the question is whether the science and engineering behind these systems are safe.</a:t>
            </a:r>
            <a:endParaRPr/>
          </a:p>
          <a:p>
            <a:pPr indent="-215900" lvl="0" marL="342900" rtl="0" algn="l">
              <a:spcBef>
                <a:spcPts val="400"/>
              </a:spcBef>
              <a:spcAft>
                <a:spcPts val="0"/>
              </a:spcAft>
              <a:buClr>
                <a:schemeClr val="dk1"/>
              </a:buClr>
              <a:buSzPts val="3200"/>
              <a:buNone/>
            </a:pPr>
            <a:r>
              <a:t/>
            </a:r>
            <a:endParaRPr/>
          </a:p>
        </p:txBody>
      </p:sp>
      <p:sp>
        <p:nvSpPr>
          <p:cNvPr id="463" name="Google Shape;46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